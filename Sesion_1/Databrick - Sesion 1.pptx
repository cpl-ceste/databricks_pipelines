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4"/>
  </p:sldMasterIdLst>
  <p:notesMasterIdLst>
    <p:notesMasterId r:id="rId21"/>
  </p:notesMasterIdLst>
  <p:handoutMasterIdLst>
    <p:handoutMasterId r:id="rId22"/>
  </p:handoutMasterIdLst>
  <p:sldIdLst>
    <p:sldId id="295" r:id="rId5"/>
    <p:sldId id="334" r:id="rId6"/>
    <p:sldId id="2147474095" r:id="rId7"/>
    <p:sldId id="337" r:id="rId8"/>
    <p:sldId id="2147474097" r:id="rId9"/>
    <p:sldId id="336" r:id="rId10"/>
    <p:sldId id="338" r:id="rId11"/>
    <p:sldId id="2147474028" r:id="rId12"/>
    <p:sldId id="340" r:id="rId13"/>
    <p:sldId id="2147474044" r:id="rId14"/>
    <p:sldId id="2147474068" r:id="rId15"/>
    <p:sldId id="2147474048" r:id="rId16"/>
    <p:sldId id="2147474049" r:id="rId17"/>
    <p:sldId id="2147474051" r:id="rId18"/>
    <p:sldId id="2147474105" r:id="rId19"/>
    <p:sldId id="257" r:id="rId20"/>
  </p:sldIdLst>
  <p:sldSz cx="9144000" cy="6858000" type="screen4x3"/>
  <p:notesSz cx="6797675" cy="9926638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38D0F0A-DE05-4A42-9708-06B99D495EB7}">
          <p14:sldIdLst>
            <p14:sldId id="295"/>
          </p14:sldIdLst>
        </p14:section>
        <p14:section name="Introduccion" id="{78661C00-685E-4F50-B7BC-8B386ADB735B}">
          <p14:sldIdLst>
            <p14:sldId id="334"/>
            <p14:sldId id="2147474095"/>
            <p14:sldId id="337"/>
          </p14:sldIdLst>
        </p14:section>
        <p14:section name="1. Fundamentos y diagnóstico de rendimiento" id="{06E2F9FF-22BB-4F0A-A7A6-D6F6F2D9919B}">
          <p14:sldIdLst>
            <p14:sldId id="2147474097"/>
            <p14:sldId id="336"/>
            <p14:sldId id="338"/>
            <p14:sldId id="2147474028"/>
            <p14:sldId id="340"/>
            <p14:sldId id="2147474044"/>
            <p14:sldId id="2147474068"/>
            <p14:sldId id="2147474048"/>
            <p14:sldId id="2147474049"/>
            <p14:sldId id="2147474051"/>
            <p14:sldId id="2147474105"/>
          </p14:sldIdLst>
        </p14:section>
        <p14:section name="Fin" id="{9CF3C226-B334-4E16-8AF2-95D0DE59AB66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pos="249" userDrawn="1">
          <p15:clr>
            <a:srgbClr val="A4A3A4"/>
          </p15:clr>
        </p15:guide>
        <p15:guide id="3" pos="55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083796"/>
    <a:srgbClr val="F5750B"/>
    <a:srgbClr val="D40D34"/>
    <a:srgbClr val="FFEE46"/>
    <a:srgbClr val="D0C70A"/>
    <a:srgbClr val="062970"/>
    <a:srgbClr val="2D5499"/>
    <a:srgbClr val="6ABAD0"/>
    <a:srgbClr val="BDC7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00B83B-76F3-4F13-897C-44A6D27B4F3F}" v="15" dt="2026-01-22T22:32:20.684"/>
  </p1510:revLst>
</p1510:revInfo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0" autoAdjust="0"/>
    <p:restoredTop sz="86925" autoAdjust="0"/>
  </p:normalViewPr>
  <p:slideViewPr>
    <p:cSldViewPr>
      <p:cViewPr varScale="1">
        <p:scale>
          <a:sx n="89" d="100"/>
          <a:sy n="89" d="100"/>
        </p:scale>
        <p:origin x="2454" y="84"/>
      </p:cViewPr>
      <p:guideLst>
        <p:guide orient="horz" pos="799"/>
        <p:guide pos="249"/>
        <p:guide pos="551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blo Sanz" userId="b60748b7-f2df-4c57-9ffa-ce60a404c4fa" providerId="ADAL" clId="{3DA5D019-CCA1-4BD5-8367-A08AEC2DFD03}"/>
    <pc:docChg chg="addSld modSld">
      <pc:chgData name="Pablo Sanz" userId="b60748b7-f2df-4c57-9ffa-ce60a404c4fa" providerId="ADAL" clId="{3DA5D019-CCA1-4BD5-8367-A08AEC2DFD03}" dt="2026-01-22T22:32:20.684" v="14"/>
      <pc:docMkLst>
        <pc:docMk/>
      </pc:docMkLst>
      <pc:sldChg chg="setBg">
        <pc:chgData name="Pablo Sanz" userId="b60748b7-f2df-4c57-9ffa-ce60a404c4fa" providerId="ADAL" clId="{3DA5D019-CCA1-4BD5-8367-A08AEC2DFD03}" dt="2026-01-22T22:32:20.684" v="14"/>
        <pc:sldMkLst>
          <pc:docMk/>
          <pc:sldMk cId="3471979225" sldId="2147474042"/>
        </pc:sldMkLst>
      </pc:sldChg>
      <pc:sldChg chg="add">
        <pc:chgData name="Pablo Sanz" userId="b60748b7-f2df-4c57-9ffa-ce60a404c4fa" providerId="ADAL" clId="{3DA5D019-CCA1-4BD5-8367-A08AEC2DFD03}" dt="2026-01-22T22:31:33.799" v="6"/>
        <pc:sldMkLst>
          <pc:docMk/>
          <pc:sldMk cId="2914292234" sldId="2147474048"/>
        </pc:sldMkLst>
      </pc:sldChg>
      <pc:sldChg chg="add">
        <pc:chgData name="Pablo Sanz" userId="b60748b7-f2df-4c57-9ffa-ce60a404c4fa" providerId="ADAL" clId="{3DA5D019-CCA1-4BD5-8367-A08AEC2DFD03}" dt="2026-01-22T22:31:33.799" v="6"/>
        <pc:sldMkLst>
          <pc:docMk/>
          <pc:sldMk cId="3781340221" sldId="2147474049"/>
        </pc:sldMkLst>
      </pc:sldChg>
      <pc:sldChg chg="add">
        <pc:chgData name="Pablo Sanz" userId="b60748b7-f2df-4c57-9ffa-ce60a404c4fa" providerId="ADAL" clId="{3DA5D019-CCA1-4BD5-8367-A08AEC2DFD03}" dt="2026-01-22T22:31:33.799" v="6"/>
        <pc:sldMkLst>
          <pc:docMk/>
          <pc:sldMk cId="3144490576" sldId="2147474051"/>
        </pc:sldMkLst>
      </pc:sldChg>
      <pc:sldChg chg="add setBg">
        <pc:chgData name="Pablo Sanz" userId="b60748b7-f2df-4c57-9ffa-ce60a404c4fa" providerId="ADAL" clId="{3DA5D019-CCA1-4BD5-8367-A08AEC2DFD03}" dt="2026-01-22T22:32:08.369" v="10"/>
        <pc:sldMkLst>
          <pc:docMk/>
          <pc:sldMk cId="2609652619" sldId="2147474068"/>
        </pc:sldMkLst>
      </pc:sldChg>
      <pc:sldChg chg="add setBg">
        <pc:chgData name="Pablo Sanz" userId="b60748b7-f2df-4c57-9ffa-ce60a404c4fa" providerId="ADAL" clId="{3DA5D019-CCA1-4BD5-8367-A08AEC2DFD03}" dt="2026-01-22T22:30:57.397" v="5"/>
        <pc:sldMkLst>
          <pc:docMk/>
          <pc:sldMk cId="1673242448" sldId="2147474095"/>
        </pc:sldMkLst>
      </pc:sldChg>
      <pc:sldChg chg="add setBg">
        <pc:chgData name="Pablo Sanz" userId="b60748b7-f2df-4c57-9ffa-ce60a404c4fa" providerId="ADAL" clId="{3DA5D019-CCA1-4BD5-8367-A08AEC2DFD03}" dt="2026-01-22T22:30:46.423" v="4"/>
        <pc:sldMkLst>
          <pc:docMk/>
          <pc:sldMk cId="3756044046" sldId="2147474097"/>
        </pc:sldMkLst>
      </pc:sldChg>
      <pc:sldChg chg="add setBg">
        <pc:chgData name="Pablo Sanz" userId="b60748b7-f2df-4c57-9ffa-ce60a404c4fa" providerId="ADAL" clId="{3DA5D019-CCA1-4BD5-8367-A08AEC2DFD03}" dt="2026-01-22T22:31:40.084" v="7"/>
        <pc:sldMkLst>
          <pc:docMk/>
          <pc:sldMk cId="3369952228" sldId="214747410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B7E6F-32B6-4D71-B377-734A03E6F81B}" type="datetimeFigureOut">
              <a:rPr lang="es-ES" smtClean="0"/>
              <a:t>22/01/2026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ED2714-3170-454D-BDE7-33312AC0515C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0369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6DFC6-7D9C-4B63-B8DE-A4BEF9511721}" type="datetimeFigureOut">
              <a:rPr lang="en-US" smtClean="0"/>
              <a:t>1/22/2026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F8B64C-EDD0-41C9-AB7F-26F0E93D38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4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E2F0C-254F-FD9C-B37A-6A655A940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7D945A4-3EDA-2CA4-61CB-DFB7099721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9F5C87A-DB98-248F-5885-AB2CC3B613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47D8ADB-418B-0072-54D8-C5FEC5B27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33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425CC-0142-265D-2AEC-7A6F5E094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21758AF-0EF8-1E8C-1BF1-680200FE4C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244A8B8-391E-AC02-04D6-89769E49F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BAD300-18A5-A90E-D86A-1BAE96621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503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b="1" dirty="0"/>
              <a:t>Plan lógico</a:t>
            </a:r>
            <a:r>
              <a:rPr lang="es-ES" dirty="0"/>
              <a:t> → lo que </a:t>
            </a:r>
            <a:r>
              <a:rPr lang="es-ES" dirty="0" err="1"/>
              <a:t>Spark</a:t>
            </a:r>
            <a:r>
              <a:rPr lang="es-ES" dirty="0"/>
              <a:t> entiende que quieres hacer.</a:t>
            </a:r>
          </a:p>
          <a:p>
            <a:r>
              <a:rPr lang="es-ES" b="1" dirty="0"/>
              <a:t>Optimización (</a:t>
            </a:r>
            <a:r>
              <a:rPr lang="es-ES" b="1" dirty="0" err="1"/>
              <a:t>Catalyst</a:t>
            </a:r>
            <a:r>
              <a:rPr lang="es-ES" b="1" dirty="0"/>
              <a:t>)</a:t>
            </a:r>
            <a:r>
              <a:rPr lang="es-ES" dirty="0"/>
              <a:t> → reordena y simplifica operaciones.</a:t>
            </a:r>
          </a:p>
          <a:p>
            <a:r>
              <a:rPr lang="es-ES" b="1" dirty="0"/>
              <a:t>Plan físico</a:t>
            </a:r>
            <a:r>
              <a:rPr lang="es-ES" dirty="0"/>
              <a:t> → instrucciones para ejecutores.</a:t>
            </a:r>
          </a:p>
          <a:p>
            <a:r>
              <a:rPr lang="es-ES" b="1" dirty="0"/>
              <a:t>Ejecución distribuida</a:t>
            </a:r>
            <a:r>
              <a:rPr lang="es-ES" dirty="0"/>
              <a:t> → división en </a:t>
            </a:r>
            <a:r>
              <a:rPr lang="es-ES" b="1" dirty="0" err="1"/>
              <a:t>stages</a:t>
            </a:r>
            <a:r>
              <a:rPr lang="es-ES" dirty="0"/>
              <a:t> y </a:t>
            </a:r>
            <a:r>
              <a:rPr lang="es-ES" b="1" dirty="0" err="1"/>
              <a:t>tasks</a:t>
            </a:r>
            <a:r>
              <a:rPr lang="es-E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Entender cómo </a:t>
            </a:r>
            <a:r>
              <a:rPr lang="es-ES" dirty="0" err="1"/>
              <a:t>Spark</a:t>
            </a:r>
            <a:r>
              <a:rPr lang="es-ES" dirty="0"/>
              <a:t> divide un pipeline en etapas de ejecución y cómo eso afecta el paralelismo y el rendimiento.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5223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Data skew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Ejemplo: </a:t>
            </a:r>
            <a:r>
              <a:rPr lang="es-ES" dirty="0" err="1"/>
              <a:t>join</a:t>
            </a:r>
            <a:r>
              <a:rPr lang="es-ES" dirty="0"/>
              <a:t> donde una clave aparece millones de veces.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err="1"/>
              <a:t>Particionado</a:t>
            </a:r>
            <a:endParaRPr lang="en-US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Impacto en rendimiento y consumo de memoria.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124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DB571-A625-D97A-3F1A-E9E01B060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B00FF99-4E8F-DE66-887F-36E234D045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5049056-6C9F-BA8C-5AA3-61CD03182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22CD4B-BF5A-FE65-29C5-B8A760772C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24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6BC00-3921-F31D-F9F8-8307EC98D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EE45F8F-3B68-68AB-2639-27659E5CB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6C7204D-9562-945E-2CD4-029506817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Vamos ahora con Unity </a:t>
            </a:r>
            <a:r>
              <a:rPr lang="es-ES" dirty="0" err="1"/>
              <a:t>Catalog</a:t>
            </a:r>
            <a:r>
              <a:rPr lang="es-ES" dirty="0"/>
              <a:t>….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5F1F77-15F8-FC84-85AB-CB108D8B79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F8B64C-EDD0-41C9-AB7F-26F0E93D38A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13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697DD6-C3EF-4EDC-A764-DBBB13B38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4B237E-3366-49DC-A5B2-875AB14CB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13 Rectángulo">
            <a:extLst>
              <a:ext uri="{FF2B5EF4-FFF2-40B4-BE49-F238E27FC236}">
                <a16:creationId xmlns:a16="http://schemas.microsoft.com/office/drawing/2014/main" id="{D6C32259-CF4F-40D9-87EA-B3A647A1591D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B3E2DF03-2CE7-4A9C-A771-591251BBF9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19 Imagen" descr="CESTE blanco estrella roja sin coletilla.png">
            <a:extLst>
              <a:ext uri="{FF2B5EF4-FFF2-40B4-BE49-F238E27FC236}">
                <a16:creationId xmlns:a16="http://schemas.microsoft.com/office/drawing/2014/main" id="{AE4FCCDC-943C-4720-9545-D9B580615F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77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5EA877-320E-4E53-A0C7-FC3A97FF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2BCAAD-0433-4C53-959E-D88902C1DF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196752"/>
            <a:ext cx="3867150" cy="4351338"/>
          </a:xfrm>
        </p:spPr>
        <p:txBody>
          <a:bodyPr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45E6915-382E-4217-ACD9-6D01360622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196752"/>
            <a:ext cx="386715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13 Rectángulo">
            <a:extLst>
              <a:ext uri="{FF2B5EF4-FFF2-40B4-BE49-F238E27FC236}">
                <a16:creationId xmlns:a16="http://schemas.microsoft.com/office/drawing/2014/main" id="{C0036AAF-5A53-4151-90BE-48F07F7AB8C7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9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B0E4B335-D332-4E06-AE4D-5E17D86033F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19 Imagen" descr="CESTE blanco estrella roja sin coletilla.png">
            <a:extLst>
              <a:ext uri="{FF2B5EF4-FFF2-40B4-BE49-F238E27FC236}">
                <a16:creationId xmlns:a16="http://schemas.microsoft.com/office/drawing/2014/main" id="{13C02505-FECE-4A29-9F34-42CD3910D9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49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EEDE8-238D-431B-9E02-ECEA5C508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543595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94FC885-D21E-4C6F-92A4-7DF46EB72A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152748"/>
            <a:ext cx="3868737" cy="692076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6430F69-62A4-47BE-B8E1-BDB77F91F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976660"/>
            <a:ext cx="386873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336B7D7-2137-443B-B8F2-2827DBA756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152748"/>
            <a:ext cx="3887788" cy="692076"/>
          </a:xfrm>
        </p:spPr>
        <p:txBody>
          <a:bodyPr anchor="b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A41CAA0-A338-4726-AD36-E9CAB2E329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976660"/>
            <a:ext cx="38877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10" name="13 Rectángulo">
            <a:extLst>
              <a:ext uri="{FF2B5EF4-FFF2-40B4-BE49-F238E27FC236}">
                <a16:creationId xmlns:a16="http://schemas.microsoft.com/office/drawing/2014/main" id="{CADFFFF2-D07E-48B3-B746-4C1E4E0D3EE7}"/>
              </a:ext>
            </a:extLst>
          </p:cNvPr>
          <p:cNvSpPr/>
          <p:nvPr userDrawn="1"/>
        </p:nvSpPr>
        <p:spPr>
          <a:xfrm>
            <a:off x="0" y="6179372"/>
            <a:ext cx="9144000" cy="692696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926C383A-DA23-4774-90AB-96458016A6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259632" y="5883964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19 Imagen" descr="CESTE blanco estrella roja sin coletilla.png">
            <a:extLst>
              <a:ext uri="{FF2B5EF4-FFF2-40B4-BE49-F238E27FC236}">
                <a16:creationId xmlns:a16="http://schemas.microsoft.com/office/drawing/2014/main" id="{372DB351-4074-41B1-8D78-45083290FC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52320" y="6184800"/>
            <a:ext cx="1368152" cy="65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715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334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E6F0CB5-4C9C-47CC-9AC6-73C1D182B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543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8939DD-6314-46C2-B153-796562A40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124744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572454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58" r:id="rId3"/>
    <p:sldLayoutId id="214748365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linkedin.com/in/pablosanzcaperote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na mujer en frente de laptop&#10;&#10;Descripción generada automáticamente">
            <a:extLst>
              <a:ext uri="{FF2B5EF4-FFF2-40B4-BE49-F238E27FC236}">
                <a16:creationId xmlns:a16="http://schemas.microsoft.com/office/drawing/2014/main" id="{1B2DE7D5-11AB-4593-8E63-D175747460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3" r="9979"/>
          <a:stretch/>
        </p:blipFill>
        <p:spPr>
          <a:xfrm>
            <a:off x="0" y="-20033"/>
            <a:ext cx="9144000" cy="6905417"/>
          </a:xfrm>
          <a:prstGeom prst="rect">
            <a:avLst/>
          </a:prstGeom>
        </p:spPr>
      </p:pic>
      <p:sp>
        <p:nvSpPr>
          <p:cNvPr id="5" name="12 Rectángulo">
            <a:extLst>
              <a:ext uri="{FF2B5EF4-FFF2-40B4-BE49-F238E27FC236}">
                <a16:creationId xmlns:a16="http://schemas.microsoft.com/office/drawing/2014/main" id="{16DA3BB4-B192-47D7-B785-553D283516FF}"/>
              </a:ext>
            </a:extLst>
          </p:cNvPr>
          <p:cNvSpPr/>
          <p:nvPr/>
        </p:nvSpPr>
        <p:spPr>
          <a:xfrm>
            <a:off x="1282604" y="519466"/>
            <a:ext cx="3816424" cy="2549494"/>
          </a:xfrm>
          <a:prstGeom prst="rect">
            <a:avLst/>
          </a:prstGeom>
          <a:solidFill>
            <a:srgbClr val="003594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739E4FC8-D959-4548-BC2D-FFB66F30D630}"/>
              </a:ext>
            </a:extLst>
          </p:cNvPr>
          <p:cNvGrpSpPr/>
          <p:nvPr/>
        </p:nvGrpSpPr>
        <p:grpSpPr>
          <a:xfrm>
            <a:off x="1358758" y="1068907"/>
            <a:ext cx="4365370" cy="1915534"/>
            <a:chOff x="560503" y="937402"/>
            <a:chExt cx="4365370" cy="1915534"/>
          </a:xfrm>
        </p:grpSpPr>
        <p:sp>
          <p:nvSpPr>
            <p:cNvPr id="7" name="1 Título">
              <a:extLst>
                <a:ext uri="{FF2B5EF4-FFF2-40B4-BE49-F238E27FC236}">
                  <a16:creationId xmlns:a16="http://schemas.microsoft.com/office/drawing/2014/main" id="{69E1C32A-6BA1-4445-86AA-71F7AA080899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937402"/>
              <a:ext cx="4365370" cy="581961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algn="l">
                <a:defRPr sz="3600" b="1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j-ea"/>
                  <a:cs typeface="Arial" pitchFamily="34" charset="0"/>
                </a:rPr>
                <a:t>CESTE</a:t>
              </a:r>
            </a:p>
          </p:txBody>
        </p:sp>
        <p:sp>
          <p:nvSpPr>
            <p:cNvPr id="8" name="2 Subtítulo">
              <a:extLst>
                <a:ext uri="{FF2B5EF4-FFF2-40B4-BE49-F238E27FC236}">
                  <a16:creationId xmlns:a16="http://schemas.microsoft.com/office/drawing/2014/main" id="{52C02F8F-E868-4CC8-9231-CE3B8698C2E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2383459"/>
              <a:ext cx="4365370" cy="469477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0" indent="0" algn="l">
                <a:buNone/>
                <a:defRPr sz="2000" baseline="0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  <a:lvl2pPr marL="4572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2pPr>
              <a:lvl3pPr marL="9144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3pPr>
              <a:lvl4pPr marL="13716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4pPr>
              <a:lvl5pPr marL="18288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5pPr>
              <a:lvl6pPr marL="22860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6pPr>
              <a:lvl7pPr marL="27432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7pPr>
              <a:lvl8pPr marL="32004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8pPr>
              <a:lvl9pPr marL="3657600" indent="0" algn="ctr">
                <a:buNone/>
                <a:defRPr>
                  <a:solidFill>
                    <a:schemeClr val="tx1">
                      <a:tint val="75000"/>
                    </a:schemeClr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r>
                <a:rPr kumimoji="0" lang="es-ES" sz="20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Arial" pitchFamily="34" charset="0"/>
                </a:rPr>
                <a:t>Zaragoza (España)</a:t>
              </a:r>
            </a:p>
          </p:txBody>
        </p:sp>
        <p:sp>
          <p:nvSpPr>
            <p:cNvPr id="9" name="1 Título">
              <a:extLst>
                <a:ext uri="{FF2B5EF4-FFF2-40B4-BE49-F238E27FC236}">
                  <a16:creationId xmlns:a16="http://schemas.microsoft.com/office/drawing/2014/main" id="{FFCCC8ED-BFDD-40C2-9384-6051B135D316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560503" y="1087315"/>
              <a:ext cx="3501770" cy="1634051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>
                <a:defRPr sz="2800" b="1">
                  <a:solidFill>
                    <a:schemeClr val="bg1"/>
                  </a:solidFill>
                  <a:latin typeface="+mn-lt"/>
                  <a:cs typeface="Arial" pitchFamily="34" charset="0"/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2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j-ea"/>
                  <a:cs typeface="Arial" pitchFamily="34" charset="0"/>
                </a:rPr>
                <a:t>Escuela Internacional de Negocios</a:t>
              </a:r>
            </a:p>
          </p:txBody>
        </p:sp>
      </p:grpSp>
      <p:sp>
        <p:nvSpPr>
          <p:cNvPr id="11" name="7 Rectángulo">
            <a:extLst>
              <a:ext uri="{FF2B5EF4-FFF2-40B4-BE49-F238E27FC236}">
                <a16:creationId xmlns:a16="http://schemas.microsoft.com/office/drawing/2014/main" id="{EA4F64AD-90F0-48AB-9FF8-1C33D6875C8F}"/>
              </a:ext>
            </a:extLst>
          </p:cNvPr>
          <p:cNvSpPr/>
          <p:nvPr/>
        </p:nvSpPr>
        <p:spPr>
          <a:xfrm>
            <a:off x="895446" y="6682676"/>
            <a:ext cx="8248554" cy="202708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2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29C61ABE-ECA3-4141-A971-81B9DEAA2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94130" y="6582971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7 Rectángulo">
            <a:extLst>
              <a:ext uri="{FF2B5EF4-FFF2-40B4-BE49-F238E27FC236}">
                <a16:creationId xmlns:a16="http://schemas.microsoft.com/office/drawing/2014/main" id="{AA627398-F4D7-4381-808D-80D5F1F3EB48}"/>
              </a:ext>
            </a:extLst>
          </p:cNvPr>
          <p:cNvSpPr/>
          <p:nvPr/>
        </p:nvSpPr>
        <p:spPr>
          <a:xfrm>
            <a:off x="0" y="-14102"/>
            <a:ext cx="8248554" cy="202708"/>
          </a:xfrm>
          <a:prstGeom prst="rect">
            <a:avLst/>
          </a:prstGeom>
          <a:solidFill>
            <a:srgbClr val="0035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4" name="Picture 4" descr="http://www.ceste.es/wp-content/uploads/2016/06/CESTE-Diamante.png">
            <a:extLst>
              <a:ext uri="{FF2B5EF4-FFF2-40B4-BE49-F238E27FC236}">
                <a16:creationId xmlns:a16="http://schemas.microsoft.com/office/drawing/2014/main" id="{0A8F8B0D-2FAA-485C-9D78-273EB1B0AE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947238" y="-316515"/>
            <a:ext cx="602632" cy="604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EC902A68-A05E-4C30-9FDE-A0B9A7E87B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908" y="614880"/>
            <a:ext cx="1512664" cy="73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1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7CA8ACE-8229-462D-A48C-A7D84E241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¿Quién soy?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8484274-BA79-4C9E-8923-FD8913A6A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28567"/>
            <a:ext cx="7886700" cy="4392488"/>
          </a:xfrm>
        </p:spPr>
        <p:txBody>
          <a:bodyPr>
            <a:normAutofit/>
          </a:bodyPr>
          <a:lstStyle/>
          <a:p>
            <a:r>
              <a:rPr lang="es-ES" dirty="0"/>
              <a:t>Pablo Sanz </a:t>
            </a:r>
            <a:r>
              <a:rPr lang="es-ES" dirty="0" err="1"/>
              <a:t>Caperote</a:t>
            </a:r>
            <a:endParaRPr lang="es-ES" dirty="0"/>
          </a:p>
          <a:p>
            <a:endParaRPr lang="es-ES" dirty="0"/>
          </a:p>
          <a:p>
            <a:r>
              <a:rPr lang="es-ES" dirty="0"/>
              <a:t>Doble Grado en Ingeniería Informática – Matemáticas</a:t>
            </a:r>
          </a:p>
          <a:p>
            <a:endParaRPr lang="es-ES" dirty="0"/>
          </a:p>
          <a:p>
            <a:r>
              <a:rPr lang="es-ES" dirty="0"/>
              <a:t>Profesional con más de 3 años de experiencia entorno al mundo de los datos.</a:t>
            </a:r>
          </a:p>
          <a:p>
            <a:endParaRPr lang="es-ES" dirty="0"/>
          </a:p>
          <a:p>
            <a:r>
              <a:rPr lang="es-ES" dirty="0"/>
              <a:t>Casi 2 años trabajando con </a:t>
            </a:r>
            <a:r>
              <a:rPr lang="es-ES" dirty="0" err="1"/>
              <a:t>Databricks</a:t>
            </a:r>
            <a:endParaRPr lang="es-ES" dirty="0"/>
          </a:p>
          <a:p>
            <a:endParaRPr lang="es-ES" dirty="0"/>
          </a:p>
          <a:p>
            <a:r>
              <a:rPr lang="es-ES" dirty="0"/>
              <a:t>Varias certificaciones en </a:t>
            </a:r>
            <a:r>
              <a:rPr lang="es-ES" dirty="0" err="1"/>
              <a:t>Clouds</a:t>
            </a:r>
            <a:r>
              <a:rPr lang="es-ES" dirty="0"/>
              <a:t> (AWS, Azure, GCP)</a:t>
            </a:r>
          </a:p>
        </p:txBody>
      </p:sp>
      <p:pic>
        <p:nvPicPr>
          <p:cNvPr id="3" name="Picture 2" descr="A person in a blue suit&#10;&#10;AI-generated content may be incorrect.">
            <a:extLst>
              <a:ext uri="{FF2B5EF4-FFF2-40B4-BE49-F238E27FC236}">
                <a16:creationId xmlns:a16="http://schemas.microsoft.com/office/drawing/2014/main" id="{9BDC8E4B-EF5B-569E-DCCA-D6C0F6FE7D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38" t="19626" r="8797" b="19187"/>
          <a:stretch/>
        </p:blipFill>
        <p:spPr>
          <a:xfrm>
            <a:off x="6714356" y="170638"/>
            <a:ext cx="1800200" cy="1908212"/>
          </a:xfrm>
          <a:prstGeom prst="ellipse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5301FA-022B-9DAA-2979-7B704D9BA4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5721635"/>
            <a:ext cx="278160" cy="2781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E41BCB-D086-EBC0-7C16-34EC068C1E19}"/>
              </a:ext>
            </a:extLst>
          </p:cNvPr>
          <p:cNvSpPr txBox="1"/>
          <p:nvPr/>
        </p:nvSpPr>
        <p:spPr>
          <a:xfrm>
            <a:off x="3036615" y="5722216"/>
            <a:ext cx="274617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1200" b="0" i="0" dirty="0">
                <a:effectLst/>
                <a:latin typeface="-apple-system"/>
                <a:hlinkClick r:id="rId4"/>
              </a:rPr>
              <a:t>www.linkedin.com/in/pablosanzcaperote</a:t>
            </a:r>
            <a:endParaRPr lang="en-US" sz="1200" b="0" i="0" dirty="0"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1648622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88376-5AC9-11CA-5DB0-97A87C869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906E01F-AC1A-2F49-A336-3ABB2B6D7F32}"/>
              </a:ext>
            </a:extLst>
          </p:cNvPr>
          <p:cNvSpPr txBox="1"/>
          <p:nvPr/>
        </p:nvSpPr>
        <p:spPr>
          <a:xfrm>
            <a:off x="2267744" y="2760676"/>
            <a:ext cx="453650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Optimización en </a:t>
            </a:r>
            <a:r>
              <a:rPr lang="es-ES" sz="2100" dirty="0" err="1">
                <a:solidFill>
                  <a:schemeClr val="bg1"/>
                </a:solidFill>
                <a:latin typeface="Montserrat" panose="00000500000000000000" pitchFamily="2" charset="0"/>
              </a:rPr>
              <a:t>Spark</a:t>
            </a:r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3242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474E8-D16A-CFA7-E7A8-13AAFACCF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24FF5068-6A5D-D1FD-DC71-FBC5CED52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Índice del curso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1FFDE6A-4AB1-ACA8-1D45-1A1FAD325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266700" indent="-266700">
              <a:buFont typeface="+mj-lt"/>
              <a:buAutoNum type="arabicPeriod"/>
            </a:pPr>
            <a:r>
              <a:rPr lang="es-ES" dirty="0"/>
              <a:t>Fundamentos y diagnóstico de rendimiento</a:t>
            </a:r>
          </a:p>
          <a:p>
            <a:pPr lvl="1">
              <a:lnSpc>
                <a:spcPct val="100000"/>
              </a:lnSpc>
            </a:pPr>
            <a:r>
              <a:rPr lang="es-ES" dirty="0"/>
              <a:t>Funcionamiento de </a:t>
            </a:r>
            <a:r>
              <a:rPr lang="es-ES" dirty="0" err="1"/>
              <a:t>Spark</a:t>
            </a:r>
            <a:endParaRPr lang="es-ES" dirty="0"/>
          </a:p>
          <a:p>
            <a:pPr lvl="1"/>
            <a:r>
              <a:rPr lang="es-ES" dirty="0"/>
              <a:t>Cuellos de botella</a:t>
            </a:r>
          </a:p>
          <a:p>
            <a:pPr lvl="1"/>
            <a:r>
              <a:rPr lang="es-ES" dirty="0"/>
              <a:t>Uso de herramientas</a:t>
            </a:r>
          </a:p>
          <a:p>
            <a:endParaRPr lang="es-ES" dirty="0"/>
          </a:p>
          <a:p>
            <a:pPr marL="266700" indent="-266700">
              <a:buFont typeface="+mj-lt"/>
              <a:buAutoNum type="arabicPeriod" startAt="2"/>
            </a:pPr>
            <a:r>
              <a:rPr lang="es-ES" dirty="0"/>
              <a:t>Técnicas de optimización</a:t>
            </a:r>
          </a:p>
          <a:p>
            <a:pPr lvl="1"/>
            <a:r>
              <a:rPr lang="es-ES" dirty="0"/>
              <a:t>Buenas prácticas con código</a:t>
            </a:r>
          </a:p>
          <a:p>
            <a:pPr lvl="1"/>
            <a:r>
              <a:rPr lang="es-ES" dirty="0"/>
              <a:t>Optimización de particionado y archivos</a:t>
            </a:r>
          </a:p>
          <a:p>
            <a:pPr lvl="1"/>
            <a:r>
              <a:rPr lang="es-ES" dirty="0"/>
              <a:t>Uso de Delta Lake en </a:t>
            </a:r>
            <a:r>
              <a:rPr lang="es-ES" dirty="0" err="1"/>
              <a:t>Databricks</a:t>
            </a:r>
            <a:endParaRPr lang="es-ES" dirty="0"/>
          </a:p>
          <a:p>
            <a:endParaRPr lang="es-ES" dirty="0"/>
          </a:p>
          <a:p>
            <a:pPr marL="266700" indent="-266700">
              <a:buFont typeface="+mj-lt"/>
              <a:buAutoNum type="arabicPeriod" startAt="3"/>
            </a:pPr>
            <a:r>
              <a:rPr lang="es-ES" dirty="0"/>
              <a:t>Diseño de pipelines escalables y sostenibles</a:t>
            </a:r>
            <a:endParaRPr lang="en-US" dirty="0"/>
          </a:p>
          <a:p>
            <a:pPr lvl="1"/>
            <a:r>
              <a:rPr lang="en-US" dirty="0" err="1"/>
              <a:t>Modularización</a:t>
            </a:r>
            <a:r>
              <a:rPr lang="en-US" dirty="0"/>
              <a:t>, </a:t>
            </a:r>
            <a:r>
              <a:rPr lang="es-ES" dirty="0"/>
              <a:t>parámetros y manejo de errores</a:t>
            </a:r>
          </a:p>
          <a:p>
            <a:pPr lvl="1"/>
            <a:r>
              <a:rPr lang="es-ES" dirty="0"/>
              <a:t>Orquestación con </a:t>
            </a:r>
            <a:r>
              <a:rPr lang="es-ES" dirty="0" err="1"/>
              <a:t>Databricks</a:t>
            </a:r>
            <a:r>
              <a:rPr lang="es-ES" dirty="0"/>
              <a:t> </a:t>
            </a:r>
            <a:r>
              <a:rPr lang="es-ES" dirty="0" err="1"/>
              <a:t>Workflows</a:t>
            </a:r>
            <a:endParaRPr lang="es-ES" dirty="0"/>
          </a:p>
          <a:p>
            <a:pPr lvl="1"/>
            <a:r>
              <a:rPr lang="es-ES" dirty="0"/>
              <a:t>Control de costes y </a:t>
            </a:r>
            <a:r>
              <a:rPr lang="es-ES" dirty="0" err="1"/>
              <a:t>clusters</a:t>
            </a:r>
            <a:r>
              <a:rPr lang="es-ES" dirty="0"/>
              <a:t> eficientes</a:t>
            </a:r>
          </a:p>
          <a:p>
            <a:pPr lvl="1"/>
            <a:r>
              <a:rPr lang="es-ES" dirty="0"/>
              <a:t>Casos reales de optimización de pipelines</a:t>
            </a:r>
          </a:p>
        </p:txBody>
      </p:sp>
    </p:spTree>
    <p:extLst>
      <p:ext uri="{BB962C8B-B14F-4D97-AF65-F5344CB8AC3E}">
        <p14:creationId xmlns:p14="http://schemas.microsoft.com/office/powerpoint/2010/main" val="910241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810ED0-91F9-90D3-C106-E5114689E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F4C3C670-D8DC-AA77-6533-2CBF6F5CFA03}"/>
              </a:ext>
            </a:extLst>
          </p:cNvPr>
          <p:cNvSpPr txBox="1"/>
          <p:nvPr/>
        </p:nvSpPr>
        <p:spPr>
          <a:xfrm>
            <a:off x="2196000" y="2760676"/>
            <a:ext cx="475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1. FUNDAMENTOS Y DIAGNÓSTIVO DE RENDIMIENTO</a:t>
            </a:r>
          </a:p>
        </p:txBody>
      </p:sp>
    </p:spTree>
    <p:extLst>
      <p:ext uri="{BB962C8B-B14F-4D97-AF65-F5344CB8AC3E}">
        <p14:creationId xmlns:p14="http://schemas.microsoft.com/office/powerpoint/2010/main" val="3756044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21889-7CE4-0BE2-70E0-EFFE710F9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4411A56-3C66-0378-7DDF-57703D25D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Índice </a:t>
            </a:r>
            <a:r>
              <a:rPr lang="es-ES" dirty="0">
                <a:solidFill>
                  <a:schemeClr val="accent1"/>
                </a:solidFill>
              </a:rPr>
              <a:t>| Fundamentos y diagnóstico de rendimiento</a:t>
            </a:r>
            <a:endParaRPr lang="es-E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898FEF-C50C-F417-DDD6-D89955F56D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2177031"/>
            <a:ext cx="5344733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 err="1">
                <a:latin typeface="Arial" panose="020B0604020202020204" pitchFamily="34" charset="0"/>
              </a:rPr>
              <a:t>Ciclo</a:t>
            </a:r>
            <a:r>
              <a:rPr lang="en-US" altLang="en-US" dirty="0">
                <a:latin typeface="Arial" panose="020B0604020202020204" pitchFamily="34" charset="0"/>
              </a:rPr>
              <a:t> de </a:t>
            </a:r>
            <a:r>
              <a:rPr lang="en-US" altLang="en-US" dirty="0" err="1">
                <a:latin typeface="Arial" panose="020B0604020202020204" pitchFamily="34" charset="0"/>
              </a:rPr>
              <a:t>ejecución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>
                <a:latin typeface="Arial" panose="020B0604020202020204" pitchFamily="34" charset="0"/>
              </a:rPr>
              <a:t>en</a:t>
            </a:r>
            <a:r>
              <a:rPr lang="en-US" altLang="en-US" dirty="0">
                <a:latin typeface="Arial" panose="020B0604020202020204" pitchFamily="34" charset="0"/>
              </a:rPr>
              <a:t> Spark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Arquitectura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interna de Spark y Databricks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Identificación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cuellos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botella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Herramientas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diagnóstico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30953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DFB4F-2EB2-657C-FC57-23D4D6E90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1E8EAE6-3201-6D71-CF4A-C52F242D4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Objetivos </a:t>
            </a:r>
            <a:r>
              <a:rPr lang="es-ES" dirty="0">
                <a:solidFill>
                  <a:schemeClr val="accent1"/>
                </a:solidFill>
              </a:rPr>
              <a:t>| Conocer las transformaciones de </a:t>
            </a:r>
            <a:r>
              <a:rPr lang="es-ES" dirty="0" err="1">
                <a:solidFill>
                  <a:schemeClr val="accent1"/>
                </a:solidFill>
              </a:rPr>
              <a:t>Spark</a:t>
            </a:r>
            <a:r>
              <a:rPr lang="es-ES" dirty="0">
                <a:solidFill>
                  <a:schemeClr val="accent1"/>
                </a:solidFill>
              </a:rPr>
              <a:t>, sus cuellos de botella y las herramientas de diagnóstico</a:t>
            </a:r>
            <a:endParaRPr lang="es-ES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4014B3A-F31F-D48C-E119-0B7C0F9C6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856" y="1854696"/>
            <a:ext cx="5095478" cy="3148608"/>
          </a:xfrm>
        </p:spPr>
        <p:txBody>
          <a:bodyPr>
            <a:normAutofit/>
          </a:bodyPr>
          <a:lstStyle/>
          <a:p>
            <a:pPr marL="266700" indent="-266700">
              <a:buFont typeface="+mj-lt"/>
              <a:buAutoNum type="arabicPeriod"/>
            </a:pPr>
            <a:r>
              <a:rPr lang="es-ES" dirty="0"/>
              <a:t>Explicar cómo </a:t>
            </a:r>
            <a:r>
              <a:rPr lang="es-ES" dirty="0" err="1"/>
              <a:t>Spark</a:t>
            </a:r>
            <a:r>
              <a:rPr lang="es-ES" dirty="0"/>
              <a:t> ejecuta un pipeline de datos desde el código hasta la ejecución distribuida.</a:t>
            </a:r>
          </a:p>
          <a:p>
            <a:pPr marL="266700" indent="-266700">
              <a:buFont typeface="+mj-lt"/>
              <a:buAutoNum type="arabicPeriod"/>
            </a:pPr>
            <a:endParaRPr lang="es-ES" dirty="0"/>
          </a:p>
          <a:p>
            <a:pPr marL="266700" indent="-266700">
              <a:buFont typeface="+mj-lt"/>
              <a:buAutoNum type="arabicPeriod"/>
            </a:pPr>
            <a:r>
              <a:rPr lang="es-ES" dirty="0"/>
              <a:t>Identificar los cuellos de botella más comunes en </a:t>
            </a:r>
            <a:r>
              <a:rPr lang="es-ES" dirty="0" err="1"/>
              <a:t>Spark</a:t>
            </a:r>
            <a:r>
              <a:rPr lang="es-ES" dirty="0"/>
              <a:t>.</a:t>
            </a:r>
          </a:p>
          <a:p>
            <a:pPr marL="266700" indent="-266700">
              <a:buFont typeface="+mj-lt"/>
              <a:buAutoNum type="arabicPeriod"/>
            </a:pPr>
            <a:endParaRPr lang="es-ES" dirty="0"/>
          </a:p>
          <a:p>
            <a:pPr marL="266700" indent="-266700">
              <a:buFont typeface="+mj-lt"/>
              <a:buAutoNum type="arabicPeriod"/>
            </a:pPr>
            <a:r>
              <a:rPr lang="es-ES" dirty="0"/>
              <a:t>Usar las herramientas de diagnóstico en </a:t>
            </a:r>
            <a:r>
              <a:rPr lang="es-ES" dirty="0" err="1"/>
              <a:t>Databricks</a:t>
            </a:r>
            <a:endParaRPr lang="es-E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1D3D4D-9236-BC26-FE9A-0BA0BBB136C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8650" y="2420888"/>
            <a:ext cx="2212504" cy="221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11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11195-A5BA-8CDC-2B4D-D8CEF0BA4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76E08F59-CBFD-85D6-D90A-36A70D0D7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Ciclo de ejecución </a:t>
            </a:r>
            <a:r>
              <a:rPr lang="es-ES" dirty="0">
                <a:solidFill>
                  <a:schemeClr val="accent1"/>
                </a:solidFill>
              </a:rPr>
              <a:t>| </a:t>
            </a:r>
            <a:r>
              <a:rPr lang="es-ES" dirty="0" err="1">
                <a:solidFill>
                  <a:schemeClr val="accent1"/>
                </a:solidFill>
              </a:rPr>
              <a:t>Spark</a:t>
            </a:r>
            <a:r>
              <a:rPr lang="es-ES" dirty="0">
                <a:solidFill>
                  <a:schemeClr val="accent1"/>
                </a:solidFill>
              </a:rPr>
              <a:t> planifica primero y ejecuta después</a:t>
            </a:r>
            <a:endParaRPr lang="es-E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E1D72C2-B8D8-136C-B363-DD3915B9E482}"/>
              </a:ext>
            </a:extLst>
          </p:cNvPr>
          <p:cNvSpPr txBox="1"/>
          <p:nvPr/>
        </p:nvSpPr>
        <p:spPr>
          <a:xfrm>
            <a:off x="1131484" y="1314536"/>
            <a:ext cx="2288388" cy="1001875"/>
          </a:xfrm>
          <a:prstGeom prst="rect">
            <a:avLst/>
          </a:prstGeom>
          <a:solidFill>
            <a:schemeClr val="accent1">
              <a:alpha val="30196"/>
            </a:schemeClr>
          </a:solidFill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1437" defTabSz="685800">
              <a:defRPr/>
            </a:pPr>
            <a:r>
              <a:rPr lang="es-ES" sz="1600" b="1" dirty="0">
                <a:solidFill>
                  <a:srgbClr val="083796"/>
                </a:solidFill>
              </a:rPr>
              <a:t>Transformaciones (</a:t>
            </a:r>
            <a:r>
              <a:rPr lang="es-ES" sz="1600" b="1" dirty="0" err="1">
                <a:solidFill>
                  <a:srgbClr val="083796"/>
                </a:solidFill>
              </a:rPr>
              <a:t>lazy</a:t>
            </a:r>
            <a:r>
              <a:rPr lang="es-ES" sz="1600" b="1" dirty="0">
                <a:solidFill>
                  <a:srgbClr val="083796"/>
                </a:solidFill>
              </a:rPr>
              <a:t>)</a:t>
            </a:r>
          </a:p>
          <a:p>
            <a:pPr marL="71437" defTabSz="685800">
              <a:defRPr/>
            </a:pP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Generan plan lógico </a:t>
            </a:r>
          </a:p>
          <a:p>
            <a:pPr marL="71437" defTabSz="685800">
              <a:defRPr/>
            </a:pPr>
            <a:r>
              <a:rPr lang="es-ES" sz="1600" dirty="0" err="1">
                <a:solidFill>
                  <a:schemeClr val="tx2">
                    <a:lumMod val="75000"/>
                  </a:schemeClr>
                </a:solidFill>
              </a:rPr>
              <a:t>select</a:t>
            </a: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es-ES" sz="1600" dirty="0" err="1">
                <a:solidFill>
                  <a:schemeClr val="tx2">
                    <a:lumMod val="75000"/>
                  </a:schemeClr>
                </a:solidFill>
              </a:rPr>
              <a:t>filter</a:t>
            </a: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es-ES" sz="1600" dirty="0" err="1">
                <a:solidFill>
                  <a:schemeClr val="tx2">
                    <a:lumMod val="75000"/>
                  </a:schemeClr>
                </a:solidFill>
              </a:rPr>
              <a:t>join</a:t>
            </a:r>
            <a:endParaRPr lang="es-ES" sz="1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D0525B-2980-21CC-4CCF-6838EEF76FC8}"/>
              </a:ext>
            </a:extLst>
          </p:cNvPr>
          <p:cNvSpPr txBox="1"/>
          <p:nvPr/>
        </p:nvSpPr>
        <p:spPr>
          <a:xfrm>
            <a:off x="1131484" y="2740703"/>
            <a:ext cx="2288388" cy="1001875"/>
          </a:xfrm>
          <a:prstGeom prst="rect">
            <a:avLst/>
          </a:prstGeom>
          <a:solidFill>
            <a:schemeClr val="accent1">
              <a:alpha val="30196"/>
            </a:schemeClr>
          </a:solidFill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1437" defTabSz="685800">
              <a:defRPr/>
            </a:pPr>
            <a:r>
              <a:rPr lang="es-ES" sz="1600" b="1" dirty="0">
                <a:solidFill>
                  <a:srgbClr val="083796"/>
                </a:solidFill>
              </a:rPr>
              <a:t>Acciones</a:t>
            </a:r>
          </a:p>
          <a:p>
            <a:pPr marL="71437" defTabSz="685800">
              <a:defRPr/>
            </a:pP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Disparan ejecución real</a:t>
            </a:r>
          </a:p>
          <a:p>
            <a:pPr marL="71437" defTabSz="685800">
              <a:defRPr/>
            </a:pPr>
            <a:r>
              <a:rPr lang="es-ES" sz="1600" dirty="0" err="1">
                <a:solidFill>
                  <a:schemeClr val="tx2">
                    <a:lumMod val="75000"/>
                  </a:schemeClr>
                </a:solidFill>
              </a:rPr>
              <a:t>count</a:t>
            </a: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, show, </a:t>
            </a:r>
            <a:r>
              <a:rPr lang="es-ES" sz="1600" dirty="0" err="1">
                <a:solidFill>
                  <a:schemeClr val="tx2">
                    <a:lumMod val="75000"/>
                  </a:schemeClr>
                </a:solidFill>
              </a:rPr>
              <a:t>write</a:t>
            </a:r>
            <a:endParaRPr lang="es-ES" sz="16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714FE-5FCA-15D9-FB33-939EF5804C7F}"/>
              </a:ext>
            </a:extLst>
          </p:cNvPr>
          <p:cNvSpPr txBox="1"/>
          <p:nvPr/>
        </p:nvSpPr>
        <p:spPr>
          <a:xfrm>
            <a:off x="755578" y="4669211"/>
            <a:ext cx="3168342" cy="1001875"/>
          </a:xfrm>
          <a:prstGeom prst="roundRect">
            <a:avLst/>
          </a:prstGeom>
          <a:noFill/>
          <a:ln w="28575" cap="rnd">
            <a:solidFill>
              <a:srgbClr val="4472C4"/>
            </a:solidFill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71437" algn="ctr" defTabSz="685800">
              <a:defRPr/>
            </a:pPr>
            <a:r>
              <a:rPr lang="es-ES" sz="1600" dirty="0" err="1">
                <a:solidFill>
                  <a:schemeClr val="tx2">
                    <a:lumMod val="75000"/>
                  </a:schemeClr>
                </a:solidFill>
              </a:rPr>
              <a:t>Spark</a:t>
            </a: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 no ejecuta hasta encontrar una acción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D60CFEF-E958-DAB8-6BE7-FA018DE112C0}"/>
              </a:ext>
            </a:extLst>
          </p:cNvPr>
          <p:cNvSpPr/>
          <p:nvPr/>
        </p:nvSpPr>
        <p:spPr>
          <a:xfrm>
            <a:off x="5555651" y="1376772"/>
            <a:ext cx="1799410" cy="6202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rgbClr val="083796"/>
                </a:solidFill>
              </a:rPr>
              <a:t>Código</a:t>
            </a:r>
            <a:endParaRPr lang="en-US" sz="1400" dirty="0">
              <a:solidFill>
                <a:srgbClr val="083796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8B2638-034B-75D9-780B-6F02A8D89EA7}"/>
              </a:ext>
            </a:extLst>
          </p:cNvPr>
          <p:cNvSpPr/>
          <p:nvPr/>
        </p:nvSpPr>
        <p:spPr>
          <a:xfrm>
            <a:off x="5555651" y="2265997"/>
            <a:ext cx="1799410" cy="6202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rgbClr val="083796"/>
                </a:solidFill>
              </a:rPr>
              <a:t>Plan lógico</a:t>
            </a:r>
            <a:endParaRPr lang="en-US" sz="1400" dirty="0">
              <a:solidFill>
                <a:srgbClr val="083796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9CC983B-766D-0958-27F8-695091048C7C}"/>
              </a:ext>
            </a:extLst>
          </p:cNvPr>
          <p:cNvSpPr/>
          <p:nvPr/>
        </p:nvSpPr>
        <p:spPr>
          <a:xfrm>
            <a:off x="5555651" y="3168755"/>
            <a:ext cx="1799410" cy="6202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rgbClr val="083796"/>
                </a:solidFill>
              </a:rPr>
              <a:t>Optimización (</a:t>
            </a:r>
            <a:r>
              <a:rPr lang="es-ES" dirty="0" err="1">
                <a:solidFill>
                  <a:srgbClr val="083796"/>
                </a:solidFill>
              </a:rPr>
              <a:t>Catalyst</a:t>
            </a:r>
            <a:r>
              <a:rPr lang="es-ES" dirty="0">
                <a:solidFill>
                  <a:srgbClr val="083796"/>
                </a:solidFill>
              </a:rPr>
              <a:t>)</a:t>
            </a:r>
            <a:endParaRPr lang="en-US" sz="1400" dirty="0">
              <a:solidFill>
                <a:srgbClr val="083796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6284BBC-B30E-B671-DB6C-9C63DBF6DA12}"/>
              </a:ext>
            </a:extLst>
          </p:cNvPr>
          <p:cNvSpPr/>
          <p:nvPr/>
        </p:nvSpPr>
        <p:spPr>
          <a:xfrm>
            <a:off x="5555651" y="3975349"/>
            <a:ext cx="1799410" cy="6202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rgbClr val="083796"/>
                </a:solidFill>
              </a:rPr>
              <a:t>Plan </a:t>
            </a:r>
            <a:r>
              <a:rPr lang="es-ES" dirty="0" err="1">
                <a:solidFill>
                  <a:srgbClr val="083796"/>
                </a:solidFill>
              </a:rPr>
              <a:t>fisico</a:t>
            </a:r>
            <a:endParaRPr lang="en-US" sz="1400" dirty="0">
              <a:solidFill>
                <a:srgbClr val="083796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A1ACC39-57F5-ABD1-77B9-48B8653E657D}"/>
              </a:ext>
            </a:extLst>
          </p:cNvPr>
          <p:cNvSpPr/>
          <p:nvPr/>
        </p:nvSpPr>
        <p:spPr>
          <a:xfrm>
            <a:off x="5098352" y="4896947"/>
            <a:ext cx="2714008" cy="62028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rgbClr val="083796"/>
                </a:solidFill>
              </a:rPr>
              <a:t>DAG -&gt; </a:t>
            </a:r>
            <a:r>
              <a:rPr lang="es-ES" dirty="0" err="1">
                <a:solidFill>
                  <a:srgbClr val="083796"/>
                </a:solidFill>
              </a:rPr>
              <a:t>Stages</a:t>
            </a:r>
            <a:r>
              <a:rPr lang="es-ES" dirty="0">
                <a:solidFill>
                  <a:srgbClr val="083796"/>
                </a:solidFill>
              </a:rPr>
              <a:t> -&gt; </a:t>
            </a:r>
            <a:r>
              <a:rPr lang="es-ES" dirty="0" err="1">
                <a:solidFill>
                  <a:srgbClr val="083796"/>
                </a:solidFill>
              </a:rPr>
              <a:t>Tasks</a:t>
            </a:r>
            <a:endParaRPr lang="en-US" sz="1400" dirty="0">
              <a:solidFill>
                <a:srgbClr val="083796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AA33AF7-C6CD-1194-0D48-8EC782E0CB08}"/>
              </a:ext>
            </a:extLst>
          </p:cNvPr>
          <p:cNvCxnSpPr>
            <a:cxnSpLocks/>
          </p:cNvCxnSpPr>
          <p:nvPr/>
        </p:nvCxnSpPr>
        <p:spPr>
          <a:xfrm>
            <a:off x="6455356" y="1997057"/>
            <a:ext cx="0" cy="268940"/>
          </a:xfrm>
          <a:prstGeom prst="straightConnector1">
            <a:avLst/>
          </a:prstGeom>
          <a:ln w="381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C9A73E2-F54F-25D2-6B85-0E56D2ADA27E}"/>
              </a:ext>
            </a:extLst>
          </p:cNvPr>
          <p:cNvCxnSpPr>
            <a:cxnSpLocks/>
          </p:cNvCxnSpPr>
          <p:nvPr/>
        </p:nvCxnSpPr>
        <p:spPr>
          <a:xfrm>
            <a:off x="6455356" y="2886282"/>
            <a:ext cx="0" cy="268940"/>
          </a:xfrm>
          <a:prstGeom prst="straightConnector1">
            <a:avLst/>
          </a:prstGeom>
          <a:ln w="381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312B36C-FE1D-931A-E06F-B259002E2456}"/>
              </a:ext>
            </a:extLst>
          </p:cNvPr>
          <p:cNvCxnSpPr>
            <a:cxnSpLocks/>
          </p:cNvCxnSpPr>
          <p:nvPr/>
        </p:nvCxnSpPr>
        <p:spPr>
          <a:xfrm>
            <a:off x="6455356" y="3775507"/>
            <a:ext cx="0" cy="199842"/>
          </a:xfrm>
          <a:prstGeom prst="straightConnector1">
            <a:avLst/>
          </a:prstGeom>
          <a:ln w="381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8854A61-AFFD-8B4A-241F-0D4B4542EE4E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>
            <a:off x="6455356" y="4595634"/>
            <a:ext cx="0" cy="301313"/>
          </a:xfrm>
          <a:prstGeom prst="straightConnector1">
            <a:avLst/>
          </a:prstGeom>
          <a:ln w="38100">
            <a:solidFill>
              <a:srgbClr val="4472C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7" name="Picture 56">
            <a:extLst>
              <a:ext uri="{FF2B5EF4-FFF2-40B4-BE49-F238E27FC236}">
                <a16:creationId xmlns:a16="http://schemas.microsoft.com/office/drawing/2014/main" id="{503E8B62-6F38-5BCD-36FE-4BE3A98B2BB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9837" y="1508895"/>
            <a:ext cx="667008" cy="667008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7DD589E3-57DE-BB05-EB29-AAAF6DF29B3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48632" y="2908640"/>
            <a:ext cx="666000" cy="6660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1B5B348-DE4E-FBDD-16D2-6C5477A0E162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-1626" t="2683" b="1139"/>
          <a:stretch>
            <a:fillRect/>
          </a:stretch>
        </p:blipFill>
        <p:spPr>
          <a:xfrm>
            <a:off x="8164350" y="2273736"/>
            <a:ext cx="612000" cy="5792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FDA9422D-BC3B-9E38-1EF0-791B0AD14C1B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164350" y="3136966"/>
            <a:ext cx="612000" cy="61200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03676818-6B75-F0E0-FEFB-35DB892FE0B9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164350" y="3975349"/>
            <a:ext cx="612000" cy="61200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594845A8-1A2C-4E8A-4AFD-2E9378F8BF41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164350" y="4864149"/>
            <a:ext cx="612000" cy="61200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882B4ACB-AD13-6CC6-AFC4-2469DCEE4FE6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164350" y="1317932"/>
            <a:ext cx="612000" cy="6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91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98F4D-73DD-8C7F-AEBC-067683CE0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F5BF2712-F487-5274-8AB2-3B4280C91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 err="1"/>
              <a:t>Spark</a:t>
            </a:r>
            <a:r>
              <a:rPr lang="es-ES" dirty="0"/>
              <a:t> y </a:t>
            </a:r>
            <a:r>
              <a:rPr lang="es-ES" dirty="0" err="1"/>
              <a:t>Databrick</a:t>
            </a:r>
            <a:r>
              <a:rPr lang="es-ES" dirty="0"/>
              <a:t> por dentro </a:t>
            </a:r>
            <a:r>
              <a:rPr lang="es-ES" dirty="0">
                <a:solidFill>
                  <a:schemeClr val="accent1"/>
                </a:solidFill>
              </a:rPr>
              <a:t>| </a:t>
            </a:r>
            <a:r>
              <a:rPr lang="es-ES" dirty="0" err="1">
                <a:solidFill>
                  <a:schemeClr val="accent1"/>
                </a:solidFill>
              </a:rPr>
              <a:t>Spark</a:t>
            </a:r>
            <a:r>
              <a:rPr lang="es-ES" dirty="0">
                <a:solidFill>
                  <a:schemeClr val="accent1"/>
                </a:solidFill>
              </a:rPr>
              <a:t> reparte el trabajo y </a:t>
            </a:r>
            <a:r>
              <a:rPr lang="es-ES" dirty="0" err="1">
                <a:solidFill>
                  <a:schemeClr val="accent1"/>
                </a:solidFill>
              </a:rPr>
              <a:t>Databricks</a:t>
            </a:r>
            <a:r>
              <a:rPr lang="es-ES" dirty="0">
                <a:solidFill>
                  <a:schemeClr val="accent1"/>
                </a:solidFill>
              </a:rPr>
              <a:t> gestiona </a:t>
            </a:r>
            <a:r>
              <a:rPr lang="es-ES" dirty="0" err="1">
                <a:solidFill>
                  <a:schemeClr val="accent1"/>
                </a:solidFill>
              </a:rPr>
              <a:t>automaticamente</a:t>
            </a:r>
            <a:endParaRPr lang="es-E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5BE6B6B-A2CB-1777-4E99-B19177E7A0C3}"/>
              </a:ext>
            </a:extLst>
          </p:cNvPr>
          <p:cNvSpPr/>
          <p:nvPr/>
        </p:nvSpPr>
        <p:spPr>
          <a:xfrm>
            <a:off x="3395861" y="1196752"/>
            <a:ext cx="1968227" cy="79208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BD61C8-E85C-8F3E-5D44-0A630F60FE82}"/>
              </a:ext>
            </a:extLst>
          </p:cNvPr>
          <p:cNvSpPr txBox="1"/>
          <p:nvPr/>
        </p:nvSpPr>
        <p:spPr>
          <a:xfrm>
            <a:off x="3491880" y="1295472"/>
            <a:ext cx="1115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Notebook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DE824-0972-0F9E-256A-0E86D2F03066}"/>
              </a:ext>
            </a:extLst>
          </p:cNvPr>
          <p:cNvSpPr txBox="1"/>
          <p:nvPr/>
        </p:nvSpPr>
        <p:spPr>
          <a:xfrm>
            <a:off x="3491880" y="1628801"/>
            <a:ext cx="10561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/>
              <a:t>Código </a:t>
            </a:r>
            <a:r>
              <a:rPr lang="es-ES" sz="1200" dirty="0" err="1"/>
              <a:t>Spark</a:t>
            </a:r>
            <a:endParaRPr lang="en-US" sz="12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8A85597-47CC-23DD-4EC0-1CBE91A27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8" y="1335358"/>
            <a:ext cx="581474" cy="581474"/>
          </a:xfrm>
          <a:prstGeom prst="rect">
            <a:avLst/>
          </a:prstGeom>
        </p:spPr>
      </p:pic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4DE7062-6C81-2B21-0EB7-A394E27D6DD3}"/>
              </a:ext>
            </a:extLst>
          </p:cNvPr>
          <p:cNvSpPr/>
          <p:nvPr/>
        </p:nvSpPr>
        <p:spPr>
          <a:xfrm>
            <a:off x="3395861" y="2276872"/>
            <a:ext cx="1968227" cy="792088"/>
          </a:xfrm>
          <a:prstGeom prst="roundRect">
            <a:avLst/>
          </a:prstGeom>
          <a:solidFill>
            <a:srgbClr val="4472C4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Driver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Genera el DAG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Divide en </a:t>
            </a:r>
            <a:r>
              <a:rPr lang="es-ES" sz="1400" dirty="0" err="1"/>
              <a:t>stages</a:t>
            </a:r>
            <a:endParaRPr lang="en-US" sz="14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B8915BE-E19B-C10F-F805-524DAEB5E076}"/>
              </a:ext>
            </a:extLst>
          </p:cNvPr>
          <p:cNvSpPr/>
          <p:nvPr/>
        </p:nvSpPr>
        <p:spPr>
          <a:xfrm>
            <a:off x="3395861" y="3356992"/>
            <a:ext cx="1968227" cy="792088"/>
          </a:xfrm>
          <a:prstGeom prst="roundRect">
            <a:avLst/>
          </a:prstGeom>
          <a:solidFill>
            <a:srgbClr val="F5750B"/>
          </a:solidFill>
          <a:ln w="28575">
            <a:solidFill>
              <a:srgbClr val="F575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Cluster</a:t>
            </a:r>
            <a:endParaRPr lang="es-ES" dirty="0"/>
          </a:p>
          <a:p>
            <a:pPr algn="ctr"/>
            <a:r>
              <a:rPr lang="es-ES" sz="1400" dirty="0" err="1"/>
              <a:t>Databricks</a:t>
            </a:r>
            <a:r>
              <a:rPr lang="es-ES" sz="1400" dirty="0"/>
              <a:t> decide escalado y recursos</a:t>
            </a:r>
            <a:endParaRPr lang="en-US" sz="14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84571499-C848-6E79-ED0B-5CC68820BC30}"/>
              </a:ext>
            </a:extLst>
          </p:cNvPr>
          <p:cNvSpPr/>
          <p:nvPr/>
        </p:nvSpPr>
        <p:spPr>
          <a:xfrm>
            <a:off x="1187624" y="4581128"/>
            <a:ext cx="1968227" cy="792088"/>
          </a:xfrm>
          <a:prstGeom prst="roundRect">
            <a:avLst/>
          </a:prstGeom>
          <a:solidFill>
            <a:srgbClr val="4472C4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Executor</a:t>
            </a:r>
            <a:r>
              <a:rPr lang="es-ES" dirty="0"/>
              <a:t>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Ejecuta </a:t>
            </a:r>
            <a:r>
              <a:rPr lang="es-ES" sz="1400" dirty="0" err="1"/>
              <a:t>tasks</a:t>
            </a:r>
            <a:endParaRPr lang="es-E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Memoria local</a:t>
            </a:r>
            <a:endParaRPr lang="en-US" sz="1400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3CBD926-575E-BD31-300A-357A6124343B}"/>
              </a:ext>
            </a:extLst>
          </p:cNvPr>
          <p:cNvSpPr/>
          <p:nvPr/>
        </p:nvSpPr>
        <p:spPr>
          <a:xfrm>
            <a:off x="5426199" y="4581128"/>
            <a:ext cx="1968227" cy="792088"/>
          </a:xfrm>
          <a:prstGeom prst="roundRect">
            <a:avLst/>
          </a:prstGeom>
          <a:solidFill>
            <a:srgbClr val="4472C4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Executor</a:t>
            </a:r>
            <a:r>
              <a:rPr lang="es-ES" dirty="0"/>
              <a:t> 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Ejecuta </a:t>
            </a:r>
            <a:r>
              <a:rPr lang="es-ES" sz="1400" dirty="0" err="1"/>
              <a:t>tasks</a:t>
            </a:r>
            <a:endParaRPr lang="es-E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Memoria local</a:t>
            </a:r>
            <a:endParaRPr lang="en-US" sz="14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38AC91B-A331-2161-088A-66A20EEFAAE9}"/>
              </a:ext>
            </a:extLst>
          </p:cNvPr>
          <p:cNvSpPr/>
          <p:nvPr/>
        </p:nvSpPr>
        <p:spPr>
          <a:xfrm>
            <a:off x="3491880" y="5733256"/>
            <a:ext cx="1733602" cy="36004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Resultados</a:t>
            </a:r>
            <a:endParaRPr lang="en-US" dirty="0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E1E7FFB-CED2-3B68-4E62-4E963B104113}"/>
              </a:ext>
            </a:extLst>
          </p:cNvPr>
          <p:cNvCxnSpPr>
            <a:stCxn id="2" idx="2"/>
            <a:endCxn id="25" idx="0"/>
          </p:cNvCxnSpPr>
          <p:nvPr/>
        </p:nvCxnSpPr>
        <p:spPr>
          <a:xfrm>
            <a:off x="4379975" y="1988840"/>
            <a:ext cx="0" cy="288032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98243A4-ED07-B2F0-FC6F-AEA17BFC5230}"/>
              </a:ext>
            </a:extLst>
          </p:cNvPr>
          <p:cNvCxnSpPr>
            <a:stCxn id="25" idx="2"/>
            <a:endCxn id="27" idx="0"/>
          </p:cNvCxnSpPr>
          <p:nvPr/>
        </p:nvCxnSpPr>
        <p:spPr>
          <a:xfrm>
            <a:off x="4379975" y="3068960"/>
            <a:ext cx="0" cy="288032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A0FA9CFE-38BB-3574-B970-B670284FEC74}"/>
              </a:ext>
            </a:extLst>
          </p:cNvPr>
          <p:cNvCxnSpPr>
            <a:cxnSpLocks/>
            <a:stCxn id="27" idx="2"/>
            <a:endCxn id="29" idx="0"/>
          </p:cNvCxnSpPr>
          <p:nvPr/>
        </p:nvCxnSpPr>
        <p:spPr>
          <a:xfrm rot="16200000" flipH="1">
            <a:off x="5179120" y="3349935"/>
            <a:ext cx="432048" cy="2030338"/>
          </a:xfrm>
          <a:prstGeom prst="bentConnector3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87131C4D-A825-4A2F-03C6-98D3D2951C71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rot="5400000">
            <a:off x="3059833" y="3260986"/>
            <a:ext cx="432048" cy="2208237"/>
          </a:xfrm>
          <a:prstGeom prst="bentConnector3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C8B796DA-2AE4-96CB-924F-14C5AF888313}"/>
              </a:ext>
            </a:extLst>
          </p:cNvPr>
          <p:cNvCxnSpPr>
            <a:cxnSpLocks/>
            <a:stCxn id="28" idx="2"/>
            <a:endCxn id="30" idx="0"/>
          </p:cNvCxnSpPr>
          <p:nvPr/>
        </p:nvCxnSpPr>
        <p:spPr>
          <a:xfrm rot="16200000" flipH="1">
            <a:off x="3085189" y="4459764"/>
            <a:ext cx="360040" cy="2186943"/>
          </a:xfrm>
          <a:prstGeom prst="bentConnector3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B8C98C1C-24F5-5834-3F33-605CF4EC325C}"/>
              </a:ext>
            </a:extLst>
          </p:cNvPr>
          <p:cNvCxnSpPr>
            <a:stCxn id="29" idx="2"/>
            <a:endCxn id="30" idx="0"/>
          </p:cNvCxnSpPr>
          <p:nvPr/>
        </p:nvCxnSpPr>
        <p:spPr>
          <a:xfrm rot="5400000">
            <a:off x="5204477" y="4527420"/>
            <a:ext cx="360040" cy="2051632"/>
          </a:xfrm>
          <a:prstGeom prst="bentConnector3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BE6F525-BDB1-606C-D6BA-6BC68AEF42F0}"/>
              </a:ext>
            </a:extLst>
          </p:cNvPr>
          <p:cNvSpPr txBox="1"/>
          <p:nvPr/>
        </p:nvSpPr>
        <p:spPr>
          <a:xfrm>
            <a:off x="4075001" y="4669975"/>
            <a:ext cx="4320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ES" sz="2800" dirty="0"/>
              <a:t>…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961196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E7832-84D0-EA6C-C992-B8561775B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989A3FD-E46D-81BC-E090-3C5BAB7AF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Cuellos de botella </a:t>
            </a:r>
            <a:r>
              <a:rPr lang="es-ES" dirty="0">
                <a:solidFill>
                  <a:schemeClr val="accent1"/>
                </a:solidFill>
              </a:rPr>
              <a:t>| Detectarlos es el primer paso para optimizar un pipeline</a:t>
            </a:r>
            <a:endParaRPr lang="es-E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FBD4FF-1318-51BF-EF55-D8628873F23A}"/>
              </a:ext>
            </a:extLst>
          </p:cNvPr>
          <p:cNvSpPr/>
          <p:nvPr/>
        </p:nvSpPr>
        <p:spPr>
          <a:xfrm>
            <a:off x="899593" y="1347029"/>
            <a:ext cx="2288388" cy="3659903"/>
          </a:xfrm>
          <a:prstGeom prst="rect">
            <a:avLst/>
          </a:prstGeom>
          <a:solidFill>
            <a:srgbClr val="D9D9D9">
              <a:alpha val="30196"/>
            </a:srgbClr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C7255F-3F17-DCC1-7103-1F52F53FAE5A}"/>
              </a:ext>
            </a:extLst>
          </p:cNvPr>
          <p:cNvSpPr/>
          <p:nvPr/>
        </p:nvSpPr>
        <p:spPr>
          <a:xfrm>
            <a:off x="3463810" y="1347029"/>
            <a:ext cx="2288388" cy="3659903"/>
          </a:xfrm>
          <a:prstGeom prst="rect">
            <a:avLst/>
          </a:prstGeom>
          <a:solidFill>
            <a:srgbClr val="D9D9D9">
              <a:alpha val="30196"/>
            </a:srgbClr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DBA349-5E22-4893-1A75-F5026DDAA1AE}"/>
              </a:ext>
            </a:extLst>
          </p:cNvPr>
          <p:cNvSpPr/>
          <p:nvPr/>
        </p:nvSpPr>
        <p:spPr>
          <a:xfrm>
            <a:off x="6028028" y="1347029"/>
            <a:ext cx="2288388" cy="3659903"/>
          </a:xfrm>
          <a:prstGeom prst="rect">
            <a:avLst/>
          </a:prstGeom>
          <a:solidFill>
            <a:srgbClr val="D9D9D9">
              <a:alpha val="30196"/>
            </a:srgbClr>
          </a:solidFill>
          <a:ln w="9525" cap="rnd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900">
              <a:solidFill>
                <a:schemeClr val="tx1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6E7BDA-67A8-C3C5-4E5F-39B80DD0E5CE}"/>
              </a:ext>
            </a:extLst>
          </p:cNvPr>
          <p:cNvSpPr txBox="1"/>
          <p:nvPr/>
        </p:nvSpPr>
        <p:spPr>
          <a:xfrm>
            <a:off x="1166858" y="1658583"/>
            <a:ext cx="1753860" cy="716098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r>
              <a:rPr lang="es-ES" sz="2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Shuffles</a:t>
            </a:r>
            <a:endParaRPr lang="es-ES" sz="2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C6171C-3580-E69E-5B05-4C61D35E00BD}"/>
              </a:ext>
            </a:extLst>
          </p:cNvPr>
          <p:cNvSpPr txBox="1"/>
          <p:nvPr/>
        </p:nvSpPr>
        <p:spPr>
          <a:xfrm>
            <a:off x="3687569" y="1658583"/>
            <a:ext cx="1840874" cy="716098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sz="2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Data </a:t>
            </a:r>
            <a:r>
              <a:rPr lang="es-ES" sz="2000" b="1" dirty="0" err="1">
                <a:solidFill>
                  <a:schemeClr val="tx2">
                    <a:lumMod val="75000"/>
                  </a:schemeClr>
                </a:solidFill>
                <a:latin typeface="+mj-lt"/>
              </a:rPr>
              <a:t>Skew</a:t>
            </a:r>
            <a:endParaRPr lang="es-ES" sz="2000" b="1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8F07A4-8FCA-2AB8-31D6-3E02456F5039}"/>
              </a:ext>
            </a:extLst>
          </p:cNvPr>
          <p:cNvSpPr txBox="1"/>
          <p:nvPr/>
        </p:nvSpPr>
        <p:spPr>
          <a:xfrm>
            <a:off x="6295293" y="1658583"/>
            <a:ext cx="1753860" cy="716098"/>
          </a:xfrm>
          <a:prstGeom prst="rect">
            <a:avLst/>
          </a:prstGeom>
          <a:noFill/>
          <a:ln w="9525" cap="rnd">
            <a:noFill/>
            <a:prstDash val="solid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r>
              <a:rPr lang="es-ES" sz="2000" b="1" dirty="0">
                <a:solidFill>
                  <a:schemeClr val="tx2">
                    <a:lumMod val="75000"/>
                  </a:schemeClr>
                </a:solidFill>
                <a:latin typeface="+mj-lt"/>
              </a:rPr>
              <a:t>Particionado ineficiente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50CDF1-83FE-E1F4-4C20-632E902248A8}"/>
              </a:ext>
            </a:extLst>
          </p:cNvPr>
          <p:cNvSpPr txBox="1"/>
          <p:nvPr/>
        </p:nvSpPr>
        <p:spPr>
          <a:xfrm>
            <a:off x="899592" y="3356992"/>
            <a:ext cx="2288388" cy="1649941"/>
          </a:xfrm>
          <a:prstGeom prst="rect">
            <a:avLst/>
          </a:prstGeom>
          <a:solidFill>
            <a:schemeClr val="accent1">
              <a:alpha val="30196"/>
            </a:schemeClr>
          </a:solidFill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200025" indent="-128588" defTabSz="685800">
              <a:buFont typeface="Arial" panose="020B0604020202020204" pitchFamily="34" charset="0"/>
              <a:buChar char="•"/>
              <a:defRPr/>
            </a:pP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Redistribución de datos entre nodos</a:t>
            </a:r>
          </a:p>
          <a:p>
            <a:pPr marL="200025" indent="-128588" defTabSz="685800">
              <a:buFont typeface="Arial" panose="020B0604020202020204" pitchFamily="34" charset="0"/>
              <a:buChar char="•"/>
              <a:defRPr/>
            </a:pP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Causas: </a:t>
            </a:r>
            <a:r>
              <a:rPr lang="es-ES" sz="1600" dirty="0" err="1">
                <a:solidFill>
                  <a:schemeClr val="tx2">
                    <a:lumMod val="75000"/>
                  </a:schemeClr>
                </a:solidFill>
              </a:rPr>
              <a:t>join</a:t>
            </a: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, </a:t>
            </a:r>
            <a:r>
              <a:rPr lang="es-ES" sz="1600" dirty="0" err="1">
                <a:solidFill>
                  <a:schemeClr val="tx2">
                    <a:lumMod val="75000"/>
                  </a:schemeClr>
                </a:solidFill>
              </a:rPr>
              <a:t>groupBy</a:t>
            </a: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,… </a:t>
            </a:r>
          </a:p>
          <a:p>
            <a:pPr marL="200025" indent="-128588" defTabSz="685800">
              <a:buFont typeface="Arial" panose="020B0604020202020204" pitchFamily="34" charset="0"/>
              <a:buChar char="•"/>
              <a:defRPr/>
            </a:pP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Impacto: alto coste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7011EE5-CB60-E0D9-1FC9-0E0D49F086F6}"/>
              </a:ext>
            </a:extLst>
          </p:cNvPr>
          <p:cNvSpPr txBox="1"/>
          <p:nvPr/>
        </p:nvSpPr>
        <p:spPr>
          <a:xfrm>
            <a:off x="3463807" y="3356992"/>
            <a:ext cx="2288388" cy="1649940"/>
          </a:xfrm>
          <a:prstGeom prst="rect">
            <a:avLst/>
          </a:prstGeom>
          <a:solidFill>
            <a:schemeClr val="accent1">
              <a:alpha val="30196"/>
            </a:schemeClr>
          </a:solidFill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28588" indent="-128588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Particiones con datos muy desbalanceados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Una tarea tarda mucho más que el resto</a:t>
            </a:r>
            <a:endParaRPr lang="en-US" sz="105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C62792-1429-E7AB-01C1-4CD0C94DF3C9}"/>
              </a:ext>
            </a:extLst>
          </p:cNvPr>
          <p:cNvSpPr txBox="1"/>
          <p:nvPr/>
        </p:nvSpPr>
        <p:spPr>
          <a:xfrm>
            <a:off x="6028019" y="3356993"/>
            <a:ext cx="2288388" cy="1649939"/>
          </a:xfrm>
          <a:prstGeom prst="rect">
            <a:avLst/>
          </a:prstGeom>
          <a:solidFill>
            <a:schemeClr val="accent1">
              <a:alpha val="30196"/>
            </a:schemeClr>
          </a:solidFill>
          <a:ln w="9525" cap="rnd">
            <a:noFill/>
            <a:prstDash val="solid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28588" indent="-128588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Pocas particiones implica poco paralelismo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2">
                    <a:lumMod val="75000"/>
                  </a:schemeClr>
                </a:solidFill>
              </a:rPr>
              <a:t>Demasiadas particiones implica sobrecarga de tareas</a:t>
            </a:r>
            <a:endParaRPr lang="en-US" sz="16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6CCB6B-E3BD-E6C4-A934-7E5686DE221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719787" y="2420888"/>
            <a:ext cx="648000" cy="64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C35F51-8EFB-34E3-F440-9444FCF9AF9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284004" y="2420888"/>
            <a:ext cx="648000" cy="64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99EFEFC-59A4-1CEA-0359-1A54A23E20E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848222" y="2420888"/>
            <a:ext cx="648000" cy="648000"/>
          </a:xfrm>
          <a:prstGeom prst="rect">
            <a:avLst/>
          </a:prstGeom>
        </p:spPr>
      </p:pic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08457E9-2FEC-BC0F-A764-BE29DF04A59F}"/>
              </a:ext>
            </a:extLst>
          </p:cNvPr>
          <p:cNvSpPr/>
          <p:nvPr/>
        </p:nvSpPr>
        <p:spPr>
          <a:xfrm>
            <a:off x="1102547" y="5229544"/>
            <a:ext cx="1800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Spark</a:t>
            </a:r>
            <a:r>
              <a:rPr lang="es-ES" dirty="0"/>
              <a:t> UI</a:t>
            </a:r>
            <a:endParaRPr lang="en-US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F32C3CC-538E-79D6-9905-56F429C94CE2}"/>
              </a:ext>
            </a:extLst>
          </p:cNvPr>
          <p:cNvSpPr/>
          <p:nvPr/>
        </p:nvSpPr>
        <p:spPr>
          <a:xfrm>
            <a:off x="3667198" y="5229544"/>
            <a:ext cx="1800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DAG </a:t>
            </a:r>
            <a:r>
              <a:rPr lang="es-ES" dirty="0" err="1"/>
              <a:t>Viewer</a:t>
            </a:r>
            <a:endParaRPr lang="en-US" dirty="0">
              <a:effectLst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8C669DA-F98D-F6B6-C49F-1DDC9973C02B}"/>
              </a:ext>
            </a:extLst>
          </p:cNvPr>
          <p:cNvSpPr/>
          <p:nvPr/>
        </p:nvSpPr>
        <p:spPr>
          <a:xfrm>
            <a:off x="6231849" y="5229544"/>
            <a:ext cx="1800000" cy="72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/>
              <a:t>explain</a:t>
            </a:r>
            <a:r>
              <a:rPr lang="es-ES" dirty="0"/>
              <a:t>()</a:t>
            </a:r>
          </a:p>
          <a:p>
            <a:pPr algn="ctr"/>
            <a:r>
              <a:rPr lang="es-ES" dirty="0" err="1"/>
              <a:t>queryExecution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861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A2ED0D-CF44-836B-BD91-A42D2BBE6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484776B-CB76-91C5-3D5E-E8A973BFA1AD}"/>
              </a:ext>
            </a:extLst>
          </p:cNvPr>
          <p:cNvSpPr txBox="1"/>
          <p:nvPr/>
        </p:nvSpPr>
        <p:spPr>
          <a:xfrm>
            <a:off x="1214767" y="2760676"/>
            <a:ext cx="671446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bg1"/>
                </a:solidFill>
                <a:latin typeface="Montserrat" panose="00000500000000000000" pitchFamily="2" charset="0"/>
              </a:rPr>
              <a:t>DEMO</a:t>
            </a:r>
          </a:p>
          <a:p>
            <a:pPr algn="ctr"/>
            <a:r>
              <a:rPr lang="es-ES" sz="2100" dirty="0">
                <a:solidFill>
                  <a:schemeClr val="bg1"/>
                </a:solidFill>
                <a:latin typeface="Montserrat" panose="00000500000000000000" pitchFamily="2" charset="0"/>
              </a:rPr>
              <a:t>COMO DIAGNOSTICAR EN SPARK</a:t>
            </a:r>
          </a:p>
        </p:txBody>
      </p:sp>
    </p:spTree>
    <p:extLst>
      <p:ext uri="{BB962C8B-B14F-4D97-AF65-F5344CB8AC3E}">
        <p14:creationId xmlns:p14="http://schemas.microsoft.com/office/powerpoint/2010/main" val="2609652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59D38-2B35-4F80-040A-6DF9CBCCF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6B2FD821-DDA2-48A3-97E6-9F91C556234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7544" y="692696"/>
          <a:ext cx="8047806" cy="45627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8154">
                  <a:extLst>
                    <a:ext uri="{9D8B030D-6E8A-4147-A177-3AD203B41FA5}">
                      <a16:colId xmlns:a16="http://schemas.microsoft.com/office/drawing/2014/main" val="1092520482"/>
                    </a:ext>
                  </a:extLst>
                </a:gridCol>
                <a:gridCol w="2160239">
                  <a:extLst>
                    <a:ext uri="{9D8B030D-6E8A-4147-A177-3AD203B41FA5}">
                      <a16:colId xmlns:a16="http://schemas.microsoft.com/office/drawing/2014/main" val="2449187385"/>
                    </a:ext>
                  </a:extLst>
                </a:gridCol>
                <a:gridCol w="2507461">
                  <a:extLst>
                    <a:ext uri="{9D8B030D-6E8A-4147-A177-3AD203B41FA5}">
                      <a16:colId xmlns:a16="http://schemas.microsoft.com/office/drawing/2014/main" val="2161613110"/>
                    </a:ext>
                  </a:extLst>
                </a:gridCol>
                <a:gridCol w="2011952">
                  <a:extLst>
                    <a:ext uri="{9D8B030D-6E8A-4147-A177-3AD203B41FA5}">
                      <a16:colId xmlns:a16="http://schemas.microsoft.com/office/drawing/2014/main" val="3954160453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Concepto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Qué 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Cuándo se crea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Nivel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2248826"/>
                  </a:ext>
                </a:extLst>
              </a:tr>
              <a:tr h="1113093"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Job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Acción completa</a:t>
                      </a:r>
                      <a:br>
                        <a:rPr lang="es-ES" dirty="0"/>
                      </a:br>
                      <a:r>
                        <a:rPr lang="es-ES" i="1" dirty="0" err="1"/>
                        <a:t>count</a:t>
                      </a:r>
                      <a:r>
                        <a:rPr lang="es-ES" i="1" dirty="0"/>
                        <a:t>, </a:t>
                      </a:r>
                      <a:r>
                        <a:rPr lang="es-ES" i="1" dirty="0" err="1"/>
                        <a:t>save</a:t>
                      </a:r>
                      <a:r>
                        <a:rPr lang="es-ES" i="1" dirty="0"/>
                        <a:t>, </a:t>
                      </a:r>
                      <a:r>
                        <a:rPr lang="es-ES" i="1" dirty="0" err="1"/>
                        <a:t>collect</a:t>
                      </a:r>
                      <a:endParaRPr lang="en-US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 ejecuta una acción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Puede contener varios </a:t>
                      </a:r>
                      <a:r>
                        <a:rPr lang="es-ES" dirty="0" err="1"/>
                        <a:t>stages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308769"/>
                  </a:ext>
                </a:extLst>
              </a:tr>
              <a:tr h="1541943">
                <a:tc>
                  <a:txBody>
                    <a:bodyPr/>
                    <a:lstStyle/>
                    <a:p>
                      <a:pPr algn="ctr"/>
                      <a:r>
                        <a:rPr lang="es-ES" b="1" dirty="0" err="1"/>
                        <a:t>Stage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Operaciones que pueden ejecutarse sin mover datos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Cada operación que requiere </a:t>
                      </a:r>
                      <a:r>
                        <a:rPr lang="es-ES" dirty="0" err="1"/>
                        <a:t>shuffle</a:t>
                      </a:r>
                      <a:br>
                        <a:rPr lang="es-ES" dirty="0"/>
                      </a:br>
                      <a:r>
                        <a:rPr lang="es-ES" i="1" dirty="0" err="1"/>
                        <a:t>groupby</a:t>
                      </a:r>
                      <a:r>
                        <a:rPr lang="es-ES" i="1" dirty="0"/>
                        <a:t>, </a:t>
                      </a:r>
                      <a:r>
                        <a:rPr lang="es-ES" i="1" dirty="0" err="1"/>
                        <a:t>join</a:t>
                      </a:r>
                      <a:r>
                        <a:rPr lang="es-ES" i="1" dirty="0"/>
                        <a:t>, </a:t>
                      </a:r>
                      <a:r>
                        <a:rPr lang="es-ES" i="1" dirty="0" err="1"/>
                        <a:t>repartition</a:t>
                      </a:r>
                      <a:endParaRPr lang="en-US" i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Contiene varios </a:t>
                      </a:r>
                      <a:r>
                        <a:rPr lang="es-ES" dirty="0" err="1"/>
                        <a:t>task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6527380"/>
                  </a:ext>
                </a:extLst>
              </a:tr>
              <a:tr h="1541943">
                <a:tc>
                  <a:txBody>
                    <a:bodyPr/>
                    <a:lstStyle/>
                    <a:p>
                      <a:pPr algn="ctr"/>
                      <a:r>
                        <a:rPr lang="es-ES" b="1" dirty="0" err="1"/>
                        <a:t>Task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Unidad indivisible de ejecución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Por partición de los datos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Se ejecutan en </a:t>
                      </a:r>
                      <a:r>
                        <a:rPr lang="es-ES" dirty="0" err="1"/>
                        <a:t>pararlelos</a:t>
                      </a:r>
                      <a:r>
                        <a:rPr lang="es-ES" dirty="0"/>
                        <a:t> los </a:t>
                      </a:r>
                      <a:r>
                        <a:rPr lang="es-ES" dirty="0" err="1"/>
                        <a:t>executors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0772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4292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B2B859-BADA-C2FB-4B78-A0CC6CA9C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886773"/>
            <a:ext cx="2987031" cy="963996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3FAC848-A3C5-5E1E-ABF4-8D0C9FDB85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3568" y="2073622"/>
            <a:ext cx="705404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1 -&gt; count es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acción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Stages: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1 -&gt; No hay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suffle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(solo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lectura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número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particiones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 DF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haya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defecto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2D4D31-4E3F-B5D0-0FAC-D7D05F085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342" y="3732794"/>
            <a:ext cx="5205929" cy="962441"/>
          </a:xfrm>
          <a:prstGeom prst="rect">
            <a:avLst/>
          </a:prstGeom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DAD7B0BF-D8D4-4578-70A0-04C2C6B7B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6606" y="4953942"/>
            <a:ext cx="413247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Jobs:</a:t>
            </a:r>
            <a:r>
              <a:rPr lang="en-US" altLang="en-US" sz="1800" dirty="0">
                <a:latin typeface="Arial" panose="020B0604020202020204" pitchFamily="34" charset="0"/>
              </a:rPr>
              <a:t> 1 -&gt; collect es </a:t>
            </a:r>
            <a:r>
              <a:rPr lang="en-US" altLang="en-US" sz="1800" dirty="0" err="1">
                <a:latin typeface="Arial" panose="020B0604020202020204" pitchFamily="34" charset="0"/>
              </a:rPr>
              <a:t>acción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Stages:</a:t>
            </a:r>
            <a:r>
              <a:rPr lang="en-US" altLang="en-US" sz="1800" dirty="0">
                <a:latin typeface="Arial" panose="020B0604020202020204" pitchFamily="34" charset="0"/>
              </a:rPr>
              <a:t> 2 -&gt; </a:t>
            </a:r>
            <a:r>
              <a:rPr lang="en-US" altLang="en-US" sz="1800" dirty="0" err="1">
                <a:latin typeface="Arial" panose="020B0604020202020204" pitchFamily="34" charset="0"/>
              </a:rPr>
              <a:t>groupby</a:t>
            </a:r>
            <a:r>
              <a:rPr lang="en-US" altLang="en-US" sz="1800" dirty="0">
                <a:latin typeface="Arial" panose="020B0604020202020204" pitchFamily="34" charset="0"/>
              </a:rPr>
              <a:t> require shuffle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Tasks:</a:t>
            </a:r>
            <a:r>
              <a:rPr lang="en-US" altLang="en-US" sz="1800" dirty="0">
                <a:latin typeface="Arial" panose="020B0604020202020204" pitchFamily="34" charset="0"/>
              </a:rPr>
              <a:t> 8 -&gt; Cada stage </a:t>
            </a:r>
            <a:r>
              <a:rPr lang="en-US" altLang="en-US" sz="1800" dirty="0" err="1">
                <a:latin typeface="Arial" panose="020B0604020202020204" pitchFamily="34" charset="0"/>
              </a:rPr>
              <a:t>tiene</a:t>
            </a:r>
            <a:r>
              <a:rPr lang="en-US" altLang="en-US" sz="1800" dirty="0">
                <a:latin typeface="Arial" panose="020B0604020202020204" pitchFamily="34" charset="0"/>
              </a:rPr>
              <a:t> 4 Task</a:t>
            </a:r>
          </a:p>
        </p:txBody>
      </p:sp>
      <p:sp>
        <p:nvSpPr>
          <p:cNvPr id="10" name="Título 4">
            <a:extLst>
              <a:ext uri="{FF2B5EF4-FFF2-40B4-BE49-F238E27FC236}">
                <a16:creationId xmlns:a16="http://schemas.microsoft.com/office/drawing/2014/main" id="{8C90DE72-2156-C893-FB67-B9DC5CC8F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8911" y="247055"/>
            <a:ext cx="4860000" cy="543595"/>
          </a:xfrm>
        </p:spPr>
        <p:txBody>
          <a:bodyPr>
            <a:normAutofit fontScale="90000"/>
          </a:bodyPr>
          <a:lstStyle/>
          <a:p>
            <a:pPr algn="ctr"/>
            <a:r>
              <a:rPr lang="es-ES" dirty="0"/>
              <a:t>Ejemplo 1 </a:t>
            </a:r>
            <a:r>
              <a:rPr lang="es-ES" dirty="0">
                <a:solidFill>
                  <a:schemeClr val="accent1"/>
                </a:solidFill>
              </a:rPr>
              <a:t>| </a:t>
            </a:r>
            <a:r>
              <a:rPr lang="it-IT" dirty="0">
                <a:solidFill>
                  <a:schemeClr val="accent1"/>
                </a:solidFill>
              </a:rPr>
              <a:t>Un solo Job, un solo Stage</a:t>
            </a:r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12" name="Título 4">
            <a:extLst>
              <a:ext uri="{FF2B5EF4-FFF2-40B4-BE49-F238E27FC236}">
                <a16:creationId xmlns:a16="http://schemas.microsoft.com/office/drawing/2014/main" id="{422549A9-F7D5-CC88-D4C6-5555754A1E78}"/>
              </a:ext>
            </a:extLst>
          </p:cNvPr>
          <p:cNvSpPr txBox="1">
            <a:spLocks/>
          </p:cNvSpPr>
          <p:nvPr/>
        </p:nvSpPr>
        <p:spPr>
          <a:xfrm>
            <a:off x="1978911" y="3157202"/>
            <a:ext cx="4860000" cy="543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s-ES" dirty="0"/>
              <a:t>Ejemplo 2 </a:t>
            </a:r>
            <a:r>
              <a:rPr lang="es-ES" dirty="0">
                <a:solidFill>
                  <a:schemeClr val="accent1"/>
                </a:solidFill>
              </a:rPr>
              <a:t>| </a:t>
            </a:r>
            <a:r>
              <a:rPr lang="it-IT" dirty="0">
                <a:solidFill>
                  <a:schemeClr val="accent1"/>
                </a:solidFill>
              </a:rPr>
              <a:t>Un solo Job, varios Stages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81340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55400-8781-7BC0-F702-52737755B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A82CB79D-53DD-CC6A-6902-EF18F1A435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3568" y="2073622"/>
            <a:ext cx="705404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2 -&gt;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dispara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 nuevo Job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Stages: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 (1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job)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número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particiones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 DF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haya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defecto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5E141AC-84AB-C6EB-60A1-404BF97B2C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4953942"/>
            <a:ext cx="7118167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Jobs:</a:t>
            </a:r>
            <a:r>
              <a:rPr lang="en-US" altLang="en-US" sz="1800" dirty="0">
                <a:latin typeface="Arial" panose="020B0604020202020204" pitchFamily="34" charset="0"/>
              </a:rPr>
              <a:t> 1 -&gt; count es </a:t>
            </a:r>
            <a:r>
              <a:rPr lang="en-US" altLang="en-US" sz="1800" dirty="0" err="1">
                <a:latin typeface="Arial" panose="020B0604020202020204" pitchFamily="34" charset="0"/>
              </a:rPr>
              <a:t>acción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Stages:</a:t>
            </a:r>
            <a:r>
              <a:rPr lang="en-US" altLang="en-US" sz="1800" dirty="0">
                <a:latin typeface="Arial" panose="020B0604020202020204" pitchFamily="34" charset="0"/>
              </a:rPr>
              <a:t> 3 -&gt; join </a:t>
            </a:r>
            <a:r>
              <a:rPr lang="en-US" altLang="en-US" sz="1800" dirty="0" err="1">
                <a:latin typeface="Arial" panose="020B0604020202020204" pitchFamily="34" charset="0"/>
              </a:rPr>
              <a:t>implica</a:t>
            </a:r>
            <a:r>
              <a:rPr lang="en-US" altLang="en-US" sz="1800" dirty="0">
                <a:latin typeface="Arial" panose="020B0604020202020204" pitchFamily="34" charset="0"/>
              </a:rPr>
              <a:t> shuffle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Tasks:</a:t>
            </a:r>
            <a:r>
              <a:rPr lang="en-US" altLang="en-US" sz="1800" dirty="0">
                <a:latin typeface="Arial" panose="020B0604020202020204" pitchFamily="34" charset="0"/>
              </a:rPr>
              <a:t> El </a:t>
            </a:r>
            <a:r>
              <a:rPr lang="en-US" altLang="en-US" sz="1800" dirty="0" err="1">
                <a:latin typeface="Arial" panose="020B0604020202020204" pitchFamily="34" charset="0"/>
              </a:rPr>
              <a:t>número</a:t>
            </a:r>
            <a:r>
              <a:rPr lang="en-US" altLang="en-US" sz="1800" dirty="0">
                <a:latin typeface="Arial" panose="020B0604020202020204" pitchFamily="34" charset="0"/>
              </a:rPr>
              <a:t> de </a:t>
            </a:r>
            <a:r>
              <a:rPr lang="en-US" altLang="en-US" sz="1800" dirty="0" err="1">
                <a:latin typeface="Arial" panose="020B0604020202020204" pitchFamily="34" charset="0"/>
              </a:rPr>
              <a:t>particiones</a:t>
            </a:r>
            <a:r>
              <a:rPr lang="en-US" altLang="en-US" sz="1800" dirty="0">
                <a:latin typeface="Arial" panose="020B0604020202020204" pitchFamily="34" charset="0"/>
              </a:rPr>
              <a:t> del DF (</a:t>
            </a:r>
            <a:r>
              <a:rPr lang="en-US" altLang="en-US" sz="1800" dirty="0" err="1">
                <a:latin typeface="Arial" panose="020B0604020202020204" pitchFamily="34" charset="0"/>
              </a:rPr>
              <a:t>el</a:t>
            </a:r>
            <a:r>
              <a:rPr lang="en-US" altLang="en-US" sz="1800" dirty="0">
                <a:latin typeface="Arial" panose="020B0604020202020204" pitchFamily="34" charset="0"/>
              </a:rPr>
              <a:t> que </a:t>
            </a:r>
            <a:r>
              <a:rPr lang="en-US" altLang="en-US" sz="1800" dirty="0" err="1">
                <a:latin typeface="Arial" panose="020B0604020202020204" pitchFamily="34" charset="0"/>
              </a:rPr>
              <a:t>haya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por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defecto</a:t>
            </a:r>
            <a:r>
              <a:rPr lang="en-US" altLang="en-US" sz="1800" dirty="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0" name="Título 4">
            <a:extLst>
              <a:ext uri="{FF2B5EF4-FFF2-40B4-BE49-F238E27FC236}">
                <a16:creationId xmlns:a16="http://schemas.microsoft.com/office/drawing/2014/main" id="{C4B88FAC-2647-19D7-E25B-381FA89C6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8911" y="247055"/>
            <a:ext cx="4860000" cy="543595"/>
          </a:xfrm>
        </p:spPr>
        <p:txBody>
          <a:bodyPr>
            <a:normAutofit/>
          </a:bodyPr>
          <a:lstStyle/>
          <a:p>
            <a:pPr algn="ctr"/>
            <a:r>
              <a:rPr lang="es-ES" dirty="0"/>
              <a:t>Ejemplo 3 </a:t>
            </a:r>
            <a:r>
              <a:rPr lang="es-ES" dirty="0">
                <a:solidFill>
                  <a:schemeClr val="accent1"/>
                </a:solidFill>
              </a:rPr>
              <a:t>| </a:t>
            </a:r>
            <a:r>
              <a:rPr lang="it-IT" dirty="0">
                <a:solidFill>
                  <a:schemeClr val="accent1"/>
                </a:solidFill>
              </a:rPr>
              <a:t>Varios Jobs</a:t>
            </a:r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12" name="Título 4">
            <a:extLst>
              <a:ext uri="{FF2B5EF4-FFF2-40B4-BE49-F238E27FC236}">
                <a16:creationId xmlns:a16="http://schemas.microsoft.com/office/drawing/2014/main" id="{D9F59C34-0DC3-6C04-952F-C80C1FEC277C}"/>
              </a:ext>
            </a:extLst>
          </p:cNvPr>
          <p:cNvSpPr txBox="1">
            <a:spLocks/>
          </p:cNvSpPr>
          <p:nvPr/>
        </p:nvSpPr>
        <p:spPr>
          <a:xfrm>
            <a:off x="1978911" y="3157202"/>
            <a:ext cx="4860000" cy="543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algn="ctr"/>
            <a:r>
              <a:rPr lang="es-ES" dirty="0"/>
              <a:t>Ejemplo 4 </a:t>
            </a:r>
            <a:r>
              <a:rPr lang="es-ES" dirty="0">
                <a:solidFill>
                  <a:schemeClr val="accent1"/>
                </a:solidFill>
              </a:rPr>
              <a:t>| </a:t>
            </a:r>
            <a:r>
              <a:rPr lang="it-IT" dirty="0">
                <a:solidFill>
                  <a:schemeClr val="accent1"/>
                </a:solidFill>
              </a:rPr>
              <a:t>Join con shuffle</a:t>
            </a:r>
            <a:endParaRPr lang="es-E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9D6616-707E-3935-45BD-42E47D0C2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5851" y="773176"/>
            <a:ext cx="3978535" cy="12156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0428E8-21AC-D4BD-3A0A-F5804BBA87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96" y="3645024"/>
            <a:ext cx="5230401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490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D2AB12-C168-AA08-DC86-19B472419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DA9E8971-8E9C-889B-CA4A-A8E59CED1CC5}"/>
              </a:ext>
            </a:extLst>
          </p:cNvPr>
          <p:cNvSpPr txBox="1"/>
          <p:nvPr/>
        </p:nvSpPr>
        <p:spPr>
          <a:xfrm>
            <a:off x="1214767" y="2760676"/>
            <a:ext cx="671446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bg1"/>
                </a:solidFill>
                <a:latin typeface="Montserrat" panose="00000500000000000000" pitchFamily="2" charset="0"/>
              </a:rPr>
              <a:t>KAHOOT</a:t>
            </a:r>
          </a:p>
        </p:txBody>
      </p:sp>
    </p:spTree>
    <p:extLst>
      <p:ext uri="{BB962C8B-B14F-4D97-AF65-F5344CB8AC3E}">
        <p14:creationId xmlns:p14="http://schemas.microsoft.com/office/powerpoint/2010/main" val="3369952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37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10 CuadroTexto"/>
          <p:cNvSpPr txBox="1"/>
          <p:nvPr/>
        </p:nvSpPr>
        <p:spPr>
          <a:xfrm>
            <a:off x="3833047" y="5507940"/>
            <a:ext cx="1477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www.ceste.es</a:t>
            </a:r>
          </a:p>
        </p:txBody>
      </p:sp>
      <p:pic>
        <p:nvPicPr>
          <p:cNvPr id="12" name="11 Imagen" descr="CESTE blanco estrella roja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64000" y="2348880"/>
            <a:ext cx="3816424" cy="18259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4c3f89-b1e2-4b5c-81e1-9b07710f5189">
      <Terms xmlns="http://schemas.microsoft.com/office/infopath/2007/PartnerControls"/>
    </lcf76f155ced4ddcb4097134ff3c332f>
    <TaxCatchAll xmlns="ce845bb0-6f82-4cf9-8b02-3916bb6268d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61D317CF2309C4E8DA448EE42D88B65" ma:contentTypeVersion="14" ma:contentTypeDescription="Crear nuevo documento." ma:contentTypeScope="" ma:versionID="499295a40b32042ffc1aa18e52107fb2">
  <xsd:schema xmlns:xsd="http://www.w3.org/2001/XMLSchema" xmlns:xs="http://www.w3.org/2001/XMLSchema" xmlns:p="http://schemas.microsoft.com/office/2006/metadata/properties" xmlns:ns2="e24c3f89-b1e2-4b5c-81e1-9b07710f5189" xmlns:ns3="ce845bb0-6f82-4cf9-8b02-3916bb6268df" targetNamespace="http://schemas.microsoft.com/office/2006/metadata/properties" ma:root="true" ma:fieldsID="cacbbaa88dffef174e809ab62d2fa790" ns2:_="" ns3:_="">
    <xsd:import namespace="e24c3f89-b1e2-4b5c-81e1-9b07710f5189"/>
    <xsd:import namespace="ce845bb0-6f82-4cf9-8b02-3916bb6268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4c3f89-b1e2-4b5c-81e1-9b07710f51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Etiquetas de imagen" ma:readOnly="false" ma:fieldId="{5cf76f15-5ced-4ddc-b409-7134ff3c332f}" ma:taxonomyMulti="true" ma:sspId="59dbaa74-2a60-464d-988b-bba989cac70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45bb0-6f82-4cf9-8b02-3916bb6268d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51e47c2f-83de-443c-9b77-fbf0d35e4197}" ma:internalName="TaxCatchAll" ma:showField="CatchAllData" ma:web="ce845bb0-6f82-4cf9-8b02-3916bb6268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DDB250-E753-47E4-8ED1-CAC7AD183E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79858A-5E67-489D-9BB4-CD604D981F2A}">
  <ds:schemaRefs>
    <ds:schemaRef ds:uri="e24c3f89-b1e2-4b5c-81e1-9b07710f5189"/>
    <ds:schemaRef ds:uri="http://www.w3.org/XML/1998/namespace"/>
    <ds:schemaRef ds:uri="http://purl.org/dc/dcmitype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ce845bb0-6f82-4cf9-8b02-3916bb6268df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57BF0C9-4CDD-43A3-8A95-A49D62C2F2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4c3f89-b1e2-4b5c-81e1-9b07710f5189"/>
    <ds:schemaRef ds:uri="ce845bb0-6f82-4cf9-8b02-3916bb6268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17580</TotalTime>
  <Words>706</Words>
  <Application>Microsoft Office PowerPoint</Application>
  <PresentationFormat>On-screen Show (4:3)</PresentationFormat>
  <Paragraphs>147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-apple-system</vt:lpstr>
      <vt:lpstr>Aptos</vt:lpstr>
      <vt:lpstr>Arial</vt:lpstr>
      <vt:lpstr>Calibri</vt:lpstr>
      <vt:lpstr>Montserrat</vt:lpstr>
      <vt:lpstr>Diseño personalizado</vt:lpstr>
      <vt:lpstr>PowerPoint Presentation</vt:lpstr>
      <vt:lpstr>¿Quién soy?</vt:lpstr>
      <vt:lpstr>PowerPoint Presentation</vt:lpstr>
      <vt:lpstr>Índice del curso</vt:lpstr>
      <vt:lpstr>PowerPoint Presentation</vt:lpstr>
      <vt:lpstr>Índice | Fundamentos y diagnóstico de rendimiento</vt:lpstr>
      <vt:lpstr>Objetivos | Conocer las transformaciones de Spark, sus cuellos de botella y las herramientas de diagnóstico</vt:lpstr>
      <vt:lpstr>Ciclo de ejecución | Spark planifica primero y ejecuta después</vt:lpstr>
      <vt:lpstr>Spark y Databrick por dentro | Spark reparte el trabajo y Databricks gestiona automaticamente</vt:lpstr>
      <vt:lpstr>Cuellos de botella | Detectarlos es el primer paso para optimizar un pipeline</vt:lpstr>
      <vt:lpstr>PowerPoint Presentation</vt:lpstr>
      <vt:lpstr>PowerPoint Presentation</vt:lpstr>
      <vt:lpstr>Ejemplo 1 | Un solo Job, un solo Stage</vt:lpstr>
      <vt:lpstr>Ejemplo 3 | Varios Jobs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psoria</dc:creator>
  <cp:lastModifiedBy>Pablo  Sanz Caperote</cp:lastModifiedBy>
  <cp:revision>382</cp:revision>
  <cp:lastPrinted>2018-06-15T07:54:48Z</cp:lastPrinted>
  <dcterms:created xsi:type="dcterms:W3CDTF">2014-05-13T08:36:54Z</dcterms:created>
  <dcterms:modified xsi:type="dcterms:W3CDTF">2026-01-22T22:51:48Z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0x010100D61D317CF2309C4E8DA448EE42D88B65</vt:lpwstr>
  </property>
</Properties>
</file>